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as an empirical study. We use existing pretrained models and train local baselines; we do not claim a new foundation-model architecture. The presentation covers completed historical experiments, controls and data-quality findings. Prospective outcomes are still pending.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is whether regional date information adds predictive value after controlling the representation and feature count. Do not equate an office holiday with a proven statewide electricity response. Weather, economic activity and supply constraints can also affect the target; this is predictive analysis, not causal estimation.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origin as the first unseen date: lead h targets origin+h−1. Lead 7 is one target day, not a weekly average. We fill only historical inputs causally and do not score locally imputed labels. Retrospective revisions and unknown publication times mean date-order checks alone do not establish a fully operational real-time experiment. Cite Robbie Andrew and GRID-INDIA/POSOCO, with reuse clarification pending.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 hyperparameters use a pre-year temporal validation block and stay fixed for both deployment schedules during that year. The foundation models run pretrained inference; they are not trained from scratch here. Adaptation policies differ, so the benchmark is not an architecture-only experiment. Leave-region-out regression allows target-region historical context and normalization; it is not cold start.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chart to explain why a weak baseline is insufficient. With richer histories, monthly Ridge and LightGBM improve over their annual versions on several aggregate errors. Chronos remains lower on the displayed aggregate comparisons. Some event-year results become worse with monthly updates, so there is no universal winning refit schedule. Do not claim statistical superiority from these aggregate lines.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controlled event study covers 2024–2025. Two event-year clusters are not hundreds of independent experiments, even though we produce many forecasts. A single seeded placebo is not a randomization distribution. Scalar versus seven channels changes relative-day information as well as dimensionality; within-dimension generic/regional contrasts are more specific.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equal seven-channel inputs, regional mean state/year MAE improvements are about 1.4–1.6 percent for Chronos and 3.3–6.4 percent for TimesFM across leads. Scalar-window increments are smaller or mixed. These are exploratory effects, not universal or causal evidence. Adding seven zeros also changes forecasts by up to about 6–7 GWh, so interface/channel-count controls matter.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findings are part of the contribution, not defects to hide. Archive payload digests were verified. The selected festival labels agree across the checked later vintages, but some historical input values were revised. The availability experiment has only two dates. Original numerical failures and all old results remain preserved; the new stable tree run does not replace the frozen prospective forecasts.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Forecasts were issued on 30 October using data through 28 October. Only 31 October–11 November targets qualify as future; 29/30 October are excluded. The GitHub workflow is registered and its pre-period dry run passed, but no actual future score exists yet. It checks time, source completeness and the original forecast Git blob before scoring. Do not report prospective accuracy on 1 November.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completed work confidently but precisely. We found conditional calendar effects and failure modes, not a universally superior festival model. Three related states and two primary historical event years limit generalisation. Historic pretraining/proxy overlap remains unresolved. Data reuse clarification and independent human/calendar review are still pending.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appropriate to discuss the project as work in progress in college. Use source acknowledgments and your own aggregate charts. Do not distribute raw datasets or model weights before clarifying terms. The author’s reply may take time. College feedback can inform improvements, but it is not automatically independent scientific sign-off or publication acceptance.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Acknowledge the data curator, upstream organisation, model developers and close prior work. This is not a first-ever calendar-encoding claim. For follow-up, refer to the working manuscript, protocols and controlled-result reports. Avoid claiming a data licence or external review has already been granted. End with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A2B"/>
        </a:solidFill>
        <a:effectLst/>
      </p:bgPr>
    </p:bg>
    <p:spTree>
      <p:nvGrpSpPr>
        <p:cNvPr id="1" name=""/>
        <p:cNvGrpSpPr/>
        <p:nvPr/>
      </p:nvGrpSpPr>
      <p:grpSpPr/>
      <p:sp>
        <p:nvSpPr>
          <p:cNvPr id="2" name="TextBox 1"/>
          <p:cNvSpPr txBox="1"/>
          <p:nvPr/>
        </p:nvSpPr>
        <p:spPr>
          <a:xfrm>
            <a:off x="548640" y="365760"/>
            <a:ext cx="11064240" cy="1188720"/>
          </a:xfrm>
          <a:prstGeom prst="rect">
            <a:avLst/>
          </a:prstGeom>
          <a:noFill/>
        </p:spPr>
        <p:txBody>
          <a:bodyPr wrap="square">
            <a:spAutoFit/>
          </a:bodyPr>
          <a:lstStyle/>
          <a:p>
            <a:pPr>
              <a:spcAft>
                <a:spcPts val="1200"/>
              </a:spcAft>
              <a:defRPr sz="3400" b="1">
                <a:solidFill>
                  <a:srgbClr val="F5F8FC"/>
                </a:solidFill>
                <a:latin typeface="Arial"/>
              </a:defRPr>
            </a:pPr>
            <a:r>
              <a:t>Do regional calendars help</a:t>
            </a:r>
          </a:p>
          <a:p>
            <a:pPr>
              <a:spcAft>
                <a:spcPts val="1200"/>
              </a:spcAft>
              <a:defRPr sz="3400" b="1">
                <a:solidFill>
                  <a:srgbClr val="F5F8FC"/>
                </a:solidFill>
                <a:latin typeface="Arial"/>
              </a:defRPr>
            </a:pPr>
            <a:r>
              <a:t>electricity forecasting?</a:t>
            </a:r>
          </a:p>
        </p:txBody>
      </p:sp>
      <p:sp>
        <p:nvSpPr>
          <p:cNvPr id="3" name="Rectangle 2"/>
          <p:cNvSpPr/>
          <p:nvPr/>
        </p:nvSpPr>
        <p:spPr>
          <a:xfrm>
            <a:off x="548640" y="1828800"/>
            <a:ext cx="914400" cy="50292"/>
          </a:xfrm>
          <a:prstGeom prst="rect">
            <a:avLst/>
          </a:prstGeom>
          <a:solidFill>
            <a:srgbClr val="36D3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2194560"/>
            <a:ext cx="10698480" cy="1005840"/>
          </a:xfrm>
          <a:prstGeom prst="rect">
            <a:avLst/>
          </a:prstGeom>
          <a:noFill/>
        </p:spPr>
        <p:txBody>
          <a:bodyPr wrap="square">
            <a:spAutoFit/>
          </a:bodyPr>
          <a:lstStyle/>
          <a:p>
            <a:pPr>
              <a:spcAft>
                <a:spcPts val="1200"/>
              </a:spcAft>
              <a:defRPr sz="2600" b="0">
                <a:solidFill>
                  <a:srgbClr val="36D3BD"/>
                </a:solidFill>
                <a:latin typeface="Arial"/>
              </a:defRPr>
            </a:pPr>
            <a:r>
              <a:t>Controlled evaluation on Indian state supplied-energy data</a:t>
            </a:r>
          </a:p>
        </p:txBody>
      </p:sp>
      <p:sp>
        <p:nvSpPr>
          <p:cNvPr id="5" name="TextBox 4"/>
          <p:cNvSpPr txBox="1"/>
          <p:nvPr/>
        </p:nvSpPr>
        <p:spPr>
          <a:xfrm>
            <a:off x="594360" y="3840480"/>
            <a:ext cx="10698480" cy="1645920"/>
          </a:xfrm>
          <a:prstGeom prst="rect">
            <a:avLst/>
          </a:prstGeom>
          <a:noFill/>
        </p:spPr>
        <p:txBody>
          <a:bodyPr wrap="square">
            <a:spAutoFit/>
          </a:bodyPr>
          <a:lstStyle/>
          <a:p>
            <a:pPr>
              <a:spcAft>
                <a:spcPts val="1200"/>
              </a:spcAft>
              <a:defRPr sz="2300" b="0">
                <a:solidFill>
                  <a:srgbClr val="F5F8FC"/>
                </a:solidFill>
                <a:latin typeface="Arial"/>
              </a:defRPr>
            </a:pPr>
            <a:r>
              <a:t>Binay Verma</a:t>
            </a:r>
          </a:p>
          <a:p>
            <a:pPr>
              <a:spcAft>
                <a:spcPts val="1200"/>
              </a:spcAft>
              <a:defRPr sz="2300" b="0">
                <a:solidFill>
                  <a:srgbClr val="F5F8FC"/>
                </a:solidFill>
                <a:latin typeface="Arial"/>
              </a:defRPr>
            </a:pPr>
            <a:r>
              <a:t>College research presentation · 1 November 2026</a:t>
            </a:r>
          </a:p>
          <a:p>
            <a:pPr>
              <a:spcAft>
                <a:spcPts val="1200"/>
              </a:spcAft>
              <a:defRPr sz="2300" b="0">
                <a:solidFill>
                  <a:srgbClr val="F5F8FC"/>
                </a:solidFill>
                <a:latin typeface="Arial"/>
              </a:defRPr>
            </a:pPr>
            <a:r>
              <a:t>Research in progress</a:t>
            </a:r>
          </a:p>
        </p:txBody>
      </p:sp>
      <p:sp>
        <p:nvSpPr>
          <p:cNvPr id="6" name="TextBox 5"/>
          <p:cNvSpPr txBox="1"/>
          <p:nvPr/>
        </p:nvSpPr>
        <p:spPr>
          <a:xfrm>
            <a:off x="594360" y="6446520"/>
            <a:ext cx="10972800" cy="256032"/>
          </a:xfrm>
          <a:prstGeom prst="rect">
            <a:avLst/>
          </a:prstGeom>
          <a:noFill/>
        </p:spPr>
        <p:txBody>
          <a:bodyPr wrap="square">
            <a:spAutoFit/>
          </a:bodyPr>
          <a:lstStyle/>
          <a:p>
            <a:pPr>
              <a:spcAft>
                <a:spcPts val="1200"/>
              </a:spcAft>
              <a:defRPr sz="1100" b="0">
                <a:solidFill>
                  <a:srgbClr val="B3C4D8"/>
                </a:solidFill>
                <a:latin typeface="Arial"/>
              </a:defRPr>
            </a:pPr>
            <a:r>
              <a:t>Binay Verma  |  Research in progress  |  1 Nov 2026                          01/12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A2B"/>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a:spAutoFit/>
          </a:bodyPr>
          <a:lstStyle/>
          <a:p>
            <a:pPr>
              <a:spcAft>
                <a:spcPts val="1200"/>
              </a:spcAft>
              <a:defRPr sz="3000" b="1">
                <a:solidFill>
                  <a:srgbClr val="F5F8FC"/>
                </a:solidFill>
                <a:latin typeface="Arial"/>
              </a:defRPr>
            </a:pPr>
            <a:r>
              <a:t>Why study this?</a:t>
            </a:r>
          </a:p>
        </p:txBody>
      </p:sp>
      <p:sp>
        <p:nvSpPr>
          <p:cNvPr id="3" name="Rectangle 2"/>
          <p:cNvSpPr/>
          <p:nvPr/>
        </p:nvSpPr>
        <p:spPr>
          <a:xfrm>
            <a:off x="548640" y="1261872"/>
            <a:ext cx="914400" cy="50292"/>
          </a:xfrm>
          <a:prstGeom prst="rect">
            <a:avLst/>
          </a:prstGeom>
          <a:solidFill>
            <a:srgbClr val="36D3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94360" y="1691640"/>
            <a:ext cx="3611880" cy="3337560"/>
          </a:xfrm>
          <a:prstGeom prst="roundRect">
            <a:avLst/>
          </a:prstGeom>
          <a:solidFill>
            <a:srgbClr val="1C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1874520"/>
            <a:ext cx="3209544" cy="457200"/>
          </a:xfrm>
          <a:prstGeom prst="rect">
            <a:avLst/>
          </a:prstGeom>
          <a:noFill/>
        </p:spPr>
        <p:txBody>
          <a:bodyPr wrap="square">
            <a:spAutoFit/>
          </a:bodyPr>
          <a:lstStyle/>
          <a:p>
            <a:pPr>
              <a:spcAft>
                <a:spcPts val="1200"/>
              </a:spcAft>
              <a:defRPr sz="2200" b="1">
                <a:solidFill>
                  <a:srgbClr val="36D3BD"/>
                </a:solidFill>
                <a:latin typeface="Arial"/>
              </a:defRPr>
            </a:pPr>
            <a:r>
              <a:t>Moving dates</a:t>
            </a:r>
          </a:p>
        </p:txBody>
      </p:sp>
      <p:sp>
        <p:nvSpPr>
          <p:cNvPr id="6" name="TextBox 5"/>
          <p:cNvSpPr txBox="1"/>
          <p:nvPr/>
        </p:nvSpPr>
        <p:spPr>
          <a:xfrm>
            <a:off x="795528" y="2468880"/>
            <a:ext cx="3209544" cy="2468880"/>
          </a:xfrm>
          <a:prstGeom prst="rect">
            <a:avLst/>
          </a:prstGeom>
          <a:noFill/>
        </p:spPr>
        <p:txBody>
          <a:bodyPr wrap="square">
            <a:spAutoFit/>
          </a:bodyPr>
          <a:lstStyle/>
          <a:p>
            <a:pPr>
              <a:spcAft>
                <a:spcPts val="1200"/>
              </a:spcAft>
              <a:defRPr sz="2000" b="0">
                <a:solidFill>
                  <a:srgbClr val="F5F8FC"/>
                </a:solidFill>
                <a:latin typeface="Arial"/>
              </a:defRPr>
            </a:pPr>
            <a:r>
              <a:t>Festival dates vary across years, and regional observances can differ.</a:t>
            </a:r>
          </a:p>
        </p:txBody>
      </p:sp>
      <p:sp>
        <p:nvSpPr>
          <p:cNvPr id="7" name="Rounded Rectangle 6"/>
          <p:cNvSpPr/>
          <p:nvPr/>
        </p:nvSpPr>
        <p:spPr>
          <a:xfrm>
            <a:off x="4416552" y="1691640"/>
            <a:ext cx="3611880" cy="3337560"/>
          </a:xfrm>
          <a:prstGeom prst="roundRect">
            <a:avLst/>
          </a:prstGeom>
          <a:solidFill>
            <a:srgbClr val="1C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874520"/>
            <a:ext cx="3209544" cy="457200"/>
          </a:xfrm>
          <a:prstGeom prst="rect">
            <a:avLst/>
          </a:prstGeom>
          <a:noFill/>
        </p:spPr>
        <p:txBody>
          <a:bodyPr wrap="square">
            <a:spAutoFit/>
          </a:bodyPr>
          <a:lstStyle/>
          <a:p>
            <a:pPr>
              <a:spcAft>
                <a:spcPts val="1200"/>
              </a:spcAft>
              <a:defRPr sz="2200" b="1">
                <a:solidFill>
                  <a:srgbClr val="36D3BD"/>
                </a:solidFill>
                <a:latin typeface="Arial"/>
              </a:defRPr>
            </a:pPr>
            <a:r>
              <a:t>Forecasting challenge</a:t>
            </a:r>
          </a:p>
        </p:txBody>
      </p:sp>
      <p:sp>
        <p:nvSpPr>
          <p:cNvPr id="9" name="TextBox 8"/>
          <p:cNvSpPr txBox="1"/>
          <p:nvPr/>
        </p:nvSpPr>
        <p:spPr>
          <a:xfrm>
            <a:off x="4617720" y="2468880"/>
            <a:ext cx="3209544" cy="2468880"/>
          </a:xfrm>
          <a:prstGeom prst="rect">
            <a:avLst/>
          </a:prstGeom>
          <a:noFill/>
        </p:spPr>
        <p:txBody>
          <a:bodyPr wrap="square">
            <a:spAutoFit/>
          </a:bodyPr>
          <a:lstStyle/>
          <a:p>
            <a:pPr>
              <a:spcAft>
                <a:spcPts val="1200"/>
              </a:spcAft>
              <a:defRPr sz="2000" b="0">
                <a:solidFill>
                  <a:srgbClr val="F5F8FC"/>
                </a:solidFill>
                <a:latin typeface="Arial"/>
              </a:defRPr>
            </a:pPr>
            <a:r>
              <a:t>Pretrained models may use calendar inputs differently, even on the same cases.</a:t>
            </a:r>
          </a:p>
        </p:txBody>
      </p:sp>
      <p:sp>
        <p:nvSpPr>
          <p:cNvPr id="10" name="Rounded Rectangle 9"/>
          <p:cNvSpPr/>
          <p:nvPr/>
        </p:nvSpPr>
        <p:spPr>
          <a:xfrm>
            <a:off x="8238744" y="1691640"/>
            <a:ext cx="3611880" cy="3337560"/>
          </a:xfrm>
          <a:prstGeom prst="roundRect">
            <a:avLst/>
          </a:prstGeom>
          <a:solidFill>
            <a:srgbClr val="1C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39912" y="1874520"/>
            <a:ext cx="3209544" cy="457200"/>
          </a:xfrm>
          <a:prstGeom prst="rect">
            <a:avLst/>
          </a:prstGeom>
          <a:noFill/>
        </p:spPr>
        <p:txBody>
          <a:bodyPr wrap="square">
            <a:spAutoFit/>
          </a:bodyPr>
          <a:lstStyle/>
          <a:p>
            <a:pPr>
              <a:spcAft>
                <a:spcPts val="1200"/>
              </a:spcAft>
              <a:defRPr sz="2200" b="1">
                <a:solidFill>
                  <a:srgbClr val="36D3BD"/>
                </a:solidFill>
                <a:latin typeface="Arial"/>
              </a:defRPr>
            </a:pPr>
            <a:r>
              <a:t>Precise target</a:t>
            </a:r>
          </a:p>
        </p:txBody>
      </p:sp>
      <p:sp>
        <p:nvSpPr>
          <p:cNvPr id="12" name="TextBox 11"/>
          <p:cNvSpPr txBox="1"/>
          <p:nvPr/>
        </p:nvSpPr>
        <p:spPr>
          <a:xfrm>
            <a:off x="8439912" y="2468880"/>
            <a:ext cx="3209544" cy="2468880"/>
          </a:xfrm>
          <a:prstGeom prst="rect">
            <a:avLst/>
          </a:prstGeom>
          <a:noFill/>
        </p:spPr>
        <p:txBody>
          <a:bodyPr wrap="square">
            <a:spAutoFit/>
          </a:bodyPr>
          <a:lstStyle/>
          <a:p>
            <a:pPr>
              <a:spcAft>
                <a:spcPts val="1200"/>
              </a:spcAft>
              <a:defRPr sz="2000" b="0">
                <a:solidFill>
                  <a:srgbClr val="F5F8FC"/>
                </a:solidFill>
                <a:latin typeface="Arial"/>
              </a:defRPr>
            </a:pPr>
            <a:r>
              <a:t>Daily energy met/supplied in GWh: what the system delivered, rather than latent unconstrained demand.</a:t>
            </a:r>
          </a:p>
        </p:txBody>
      </p:sp>
      <p:sp>
        <p:nvSpPr>
          <p:cNvPr id="13" name="TextBox 12"/>
          <p:cNvSpPr txBox="1"/>
          <p:nvPr/>
        </p:nvSpPr>
        <p:spPr>
          <a:xfrm>
            <a:off x="594360" y="6446520"/>
            <a:ext cx="10972800" cy="256032"/>
          </a:xfrm>
          <a:prstGeom prst="rect">
            <a:avLst/>
          </a:prstGeom>
          <a:noFill/>
        </p:spPr>
        <p:txBody>
          <a:bodyPr wrap="square">
            <a:spAutoFit/>
          </a:bodyPr>
          <a:lstStyle/>
          <a:p>
            <a:pPr>
              <a:spcAft>
                <a:spcPts val="1200"/>
              </a:spcAft>
              <a:defRPr sz="1100" b="0">
                <a:solidFill>
                  <a:srgbClr val="B3C4D8"/>
                </a:solidFill>
                <a:latin typeface="Arial"/>
              </a:defRPr>
            </a:pPr>
            <a:r>
              <a:t>Binay Verma  |  Research in progress  |  1 Nov 2026                          02/12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A2B"/>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a:spAutoFit/>
          </a:bodyPr>
          <a:lstStyle/>
          <a:p>
            <a:pPr>
              <a:spcAft>
                <a:spcPts val="1200"/>
              </a:spcAft>
              <a:defRPr sz="3000" b="1">
                <a:solidFill>
                  <a:srgbClr val="F5F8FC"/>
                </a:solidFill>
                <a:latin typeface="Arial"/>
              </a:defRPr>
            </a:pPr>
            <a:r>
              <a:t>Data and evaluation rules</a:t>
            </a:r>
          </a:p>
        </p:txBody>
      </p:sp>
      <p:sp>
        <p:nvSpPr>
          <p:cNvPr id="3" name="Rectangle 2"/>
          <p:cNvSpPr/>
          <p:nvPr/>
        </p:nvSpPr>
        <p:spPr>
          <a:xfrm>
            <a:off x="548640" y="1261872"/>
            <a:ext cx="914400" cy="50292"/>
          </a:xfrm>
          <a:prstGeom prst="rect">
            <a:avLst/>
          </a:prstGeom>
          <a:solidFill>
            <a:srgbClr val="36D3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0"/>
            <a:ext cx="10789920" cy="822960"/>
          </a:xfrm>
          <a:prstGeom prst="rect">
            <a:avLst/>
          </a:prstGeom>
          <a:noFill/>
        </p:spPr>
        <p:txBody>
          <a:bodyPr wrap="square">
            <a:spAutoFit/>
          </a:bodyPr>
          <a:lstStyle/>
          <a:p>
            <a:pPr>
              <a:spcAft>
                <a:spcPts val="1200"/>
              </a:spcAft>
              <a:defRPr sz="2300" b="0">
                <a:solidFill>
                  <a:srgbClr val="F5F8FC"/>
                </a:solidFill>
                <a:latin typeface="Arial"/>
              </a:defRPr>
            </a:pPr>
            <a:r>
              <a:t>•  Three states: Karnataka, Delhi and Maharashtra.</a:t>
            </a:r>
          </a:p>
        </p:txBody>
      </p:sp>
      <p:sp>
        <p:nvSpPr>
          <p:cNvPr id="5" name="TextBox 4"/>
          <p:cNvSpPr txBox="1"/>
          <p:nvPr/>
        </p:nvSpPr>
        <p:spPr>
          <a:xfrm>
            <a:off x="640080" y="2587752"/>
            <a:ext cx="10789920" cy="822960"/>
          </a:xfrm>
          <a:prstGeom prst="rect">
            <a:avLst/>
          </a:prstGeom>
          <a:noFill/>
        </p:spPr>
        <p:txBody>
          <a:bodyPr wrap="square">
            <a:spAutoFit/>
          </a:bodyPr>
          <a:lstStyle/>
          <a:p>
            <a:pPr>
              <a:spcAft>
                <a:spcPts val="1200"/>
              </a:spcAft>
              <a:defRPr sz="2300" b="0">
                <a:solidFill>
                  <a:srgbClr val="F5F8FC"/>
                </a:solidFill>
                <a:latin typeface="Arial"/>
              </a:defRPr>
            </a:pPr>
            <a:r>
              <a:t>•  Fixed source snapshot through 28 October 2026; sources remain separate.</a:t>
            </a:r>
          </a:p>
        </p:txBody>
      </p:sp>
      <p:sp>
        <p:nvSpPr>
          <p:cNvPr id="6" name="TextBox 5"/>
          <p:cNvSpPr txBox="1"/>
          <p:nvPr/>
        </p:nvSpPr>
        <p:spPr>
          <a:xfrm>
            <a:off x="640080" y="3529584"/>
            <a:ext cx="10789920" cy="822960"/>
          </a:xfrm>
          <a:prstGeom prst="rect">
            <a:avLst/>
          </a:prstGeom>
          <a:noFill/>
        </p:spPr>
        <p:txBody>
          <a:bodyPr wrap="square">
            <a:spAutoFit/>
          </a:bodyPr>
          <a:lstStyle/>
          <a:p>
            <a:pPr>
              <a:spcAft>
                <a:spcPts val="1200"/>
              </a:spcAft>
              <a:defRPr sz="2300" b="0">
                <a:solidFill>
                  <a:srgbClr val="F5F8FC"/>
                </a:solidFill>
                <a:latin typeface="Arial"/>
              </a:defRPr>
            </a:pPr>
            <a:r>
              <a:t>•  730-day context; individual lead days 1, 7 and 14.</a:t>
            </a:r>
          </a:p>
        </p:txBody>
      </p:sp>
      <p:sp>
        <p:nvSpPr>
          <p:cNvPr id="7" name="TextBox 6"/>
          <p:cNvSpPr txBox="1"/>
          <p:nvPr/>
        </p:nvSpPr>
        <p:spPr>
          <a:xfrm>
            <a:off x="640080" y="4471416"/>
            <a:ext cx="10789920" cy="822960"/>
          </a:xfrm>
          <a:prstGeom prst="rect">
            <a:avLst/>
          </a:prstGeom>
          <a:noFill/>
        </p:spPr>
        <p:txBody>
          <a:bodyPr wrap="square">
            <a:spAutoFit/>
          </a:bodyPr>
          <a:lstStyle/>
          <a:p>
            <a:pPr>
              <a:spcAft>
                <a:spcPts val="1200"/>
              </a:spcAft>
              <a:defRPr sz="2300" b="0">
                <a:solidFill>
                  <a:srgbClr val="F5F8FC"/>
                </a:solidFill>
                <a:latin typeface="Arial"/>
              </a:defRPr>
            </a:pPr>
            <a:r>
              <a:t>•  Chronological selection and purged labels; score recorded labels only.</a:t>
            </a:r>
          </a:p>
        </p:txBody>
      </p:sp>
      <p:sp>
        <p:nvSpPr>
          <p:cNvPr id="8" name="TextBox 7"/>
          <p:cNvSpPr txBox="1"/>
          <p:nvPr/>
        </p:nvSpPr>
        <p:spPr>
          <a:xfrm>
            <a:off x="640080" y="5532120"/>
            <a:ext cx="10789920" cy="640080"/>
          </a:xfrm>
          <a:prstGeom prst="rect">
            <a:avLst/>
          </a:prstGeom>
          <a:noFill/>
        </p:spPr>
        <p:txBody>
          <a:bodyPr wrap="square">
            <a:spAutoFit/>
          </a:bodyPr>
          <a:lstStyle/>
          <a:p>
            <a:pPr>
              <a:spcAft>
                <a:spcPts val="1200"/>
              </a:spcAft>
              <a:defRPr sz="2000" b="0">
                <a:solidFill>
                  <a:srgbClr val="FFCA69"/>
                </a:solidFill>
                <a:latin typeface="Arial"/>
              </a:defRPr>
            </a:pPr>
            <a:r>
              <a:t>Historical outcomes are exploratory; matched cases make comparisons meaningful.</a:t>
            </a:r>
          </a:p>
        </p:txBody>
      </p:sp>
      <p:sp>
        <p:nvSpPr>
          <p:cNvPr id="9" name="TextBox 8"/>
          <p:cNvSpPr txBox="1"/>
          <p:nvPr/>
        </p:nvSpPr>
        <p:spPr>
          <a:xfrm>
            <a:off x="594360" y="6446520"/>
            <a:ext cx="10972800" cy="256032"/>
          </a:xfrm>
          <a:prstGeom prst="rect">
            <a:avLst/>
          </a:prstGeom>
          <a:noFill/>
        </p:spPr>
        <p:txBody>
          <a:bodyPr wrap="square">
            <a:spAutoFit/>
          </a:bodyPr>
          <a:lstStyle/>
          <a:p>
            <a:pPr>
              <a:spcAft>
                <a:spcPts val="1200"/>
              </a:spcAft>
              <a:defRPr sz="1100" b="0">
                <a:solidFill>
                  <a:srgbClr val="B3C4D8"/>
                </a:solidFill>
                <a:latin typeface="Arial"/>
              </a:defRPr>
            </a:pPr>
            <a:r>
              <a:t>Binay Verma  |  Research in progress  |  1 Nov 2026                          03/12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A2B"/>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a:spAutoFit/>
          </a:bodyPr>
          <a:lstStyle/>
          <a:p>
            <a:pPr>
              <a:spcAft>
                <a:spcPts val="1200"/>
              </a:spcAft>
              <a:defRPr sz="3000" b="1">
                <a:solidFill>
                  <a:srgbClr val="F5F8FC"/>
                </a:solidFill>
                <a:latin typeface="Arial"/>
              </a:defRPr>
            </a:pPr>
            <a:r>
              <a:t>Models and comparison design</a:t>
            </a:r>
          </a:p>
        </p:txBody>
      </p:sp>
      <p:sp>
        <p:nvSpPr>
          <p:cNvPr id="3" name="Rectangle 2"/>
          <p:cNvSpPr/>
          <p:nvPr/>
        </p:nvSpPr>
        <p:spPr>
          <a:xfrm>
            <a:off x="548640" y="1261872"/>
            <a:ext cx="914400" cy="50292"/>
          </a:xfrm>
          <a:prstGeom prst="rect">
            <a:avLst/>
          </a:prstGeom>
          <a:solidFill>
            <a:srgbClr val="36D3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94360" y="1691640"/>
            <a:ext cx="3611880" cy="3337560"/>
          </a:xfrm>
          <a:prstGeom prst="roundRect">
            <a:avLst/>
          </a:prstGeom>
          <a:solidFill>
            <a:srgbClr val="1C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1874520"/>
            <a:ext cx="3209544" cy="457200"/>
          </a:xfrm>
          <a:prstGeom prst="rect">
            <a:avLst/>
          </a:prstGeom>
          <a:noFill/>
        </p:spPr>
        <p:txBody>
          <a:bodyPr wrap="square">
            <a:spAutoFit/>
          </a:bodyPr>
          <a:lstStyle/>
          <a:p>
            <a:pPr>
              <a:spcAft>
                <a:spcPts val="1200"/>
              </a:spcAft>
              <a:defRPr sz="2200" b="1">
                <a:solidFill>
                  <a:srgbClr val="36D3BD"/>
                </a:solidFill>
                <a:latin typeface="Arial"/>
              </a:defRPr>
            </a:pPr>
            <a:r>
              <a:t>Local models</a:t>
            </a:r>
          </a:p>
        </p:txBody>
      </p:sp>
      <p:sp>
        <p:nvSpPr>
          <p:cNvPr id="6" name="TextBox 5"/>
          <p:cNvSpPr txBox="1"/>
          <p:nvPr/>
        </p:nvSpPr>
        <p:spPr>
          <a:xfrm>
            <a:off x="795528" y="2468880"/>
            <a:ext cx="3209544" cy="2468880"/>
          </a:xfrm>
          <a:prstGeom prst="rect">
            <a:avLst/>
          </a:prstGeom>
          <a:noFill/>
        </p:spPr>
        <p:txBody>
          <a:bodyPr wrap="square">
            <a:spAutoFit/>
          </a:bodyPr>
          <a:lstStyle/>
          <a:p>
            <a:pPr>
              <a:spcAft>
                <a:spcPts val="1200"/>
              </a:spcAft>
              <a:defRPr sz="2000" b="0">
                <a:solidFill>
                  <a:srgbClr val="F5F8FC"/>
                </a:solidFill>
                <a:latin typeface="Arial"/>
              </a:defRPr>
            </a:pPr>
            <a:r>
              <a:t>Ridge and LightGBM</a:t>
            </a:r>
          </a:p>
          <a:p>
            <a:pPr>
              <a:spcAft>
                <a:spcPts val="1200"/>
              </a:spcAft>
              <a:defRPr sz="2000" b="0">
                <a:solidFill>
                  <a:srgbClr val="F5F8FC"/>
                </a:solidFill>
                <a:latin typeface="Arial"/>
              </a:defRPr>
            </a:pPr>
            <a:r>
              <a:t>Rich causal history features</a:t>
            </a:r>
          </a:p>
          <a:p>
            <a:pPr>
              <a:spcAft>
                <a:spcPts val="1200"/>
              </a:spcAft>
              <a:defRPr sz="2000" b="0">
                <a:solidFill>
                  <a:srgbClr val="F5F8FC"/>
                </a:solidFill>
                <a:latin typeface="Arial"/>
              </a:defRPr>
            </a:pPr>
            <a:r>
              <a:t>Annual versus monthly refits</a:t>
            </a:r>
          </a:p>
        </p:txBody>
      </p:sp>
      <p:sp>
        <p:nvSpPr>
          <p:cNvPr id="7" name="Rounded Rectangle 6"/>
          <p:cNvSpPr/>
          <p:nvPr/>
        </p:nvSpPr>
        <p:spPr>
          <a:xfrm>
            <a:off x="4416552" y="1691640"/>
            <a:ext cx="3611880" cy="3337560"/>
          </a:xfrm>
          <a:prstGeom prst="roundRect">
            <a:avLst/>
          </a:prstGeom>
          <a:solidFill>
            <a:srgbClr val="1C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874520"/>
            <a:ext cx="3209544" cy="457200"/>
          </a:xfrm>
          <a:prstGeom prst="rect">
            <a:avLst/>
          </a:prstGeom>
          <a:noFill/>
        </p:spPr>
        <p:txBody>
          <a:bodyPr wrap="square">
            <a:spAutoFit/>
          </a:bodyPr>
          <a:lstStyle/>
          <a:p>
            <a:pPr>
              <a:spcAft>
                <a:spcPts val="1200"/>
              </a:spcAft>
              <a:defRPr sz="2200" b="1">
                <a:solidFill>
                  <a:srgbClr val="36D3BD"/>
                </a:solidFill>
                <a:latin typeface="Arial"/>
              </a:defRPr>
            </a:pPr>
            <a:r>
              <a:t>Foundation models</a:t>
            </a:r>
          </a:p>
        </p:txBody>
      </p:sp>
      <p:sp>
        <p:nvSpPr>
          <p:cNvPr id="9" name="TextBox 8"/>
          <p:cNvSpPr txBox="1"/>
          <p:nvPr/>
        </p:nvSpPr>
        <p:spPr>
          <a:xfrm>
            <a:off x="4617720" y="2468880"/>
            <a:ext cx="3209544" cy="2468880"/>
          </a:xfrm>
          <a:prstGeom prst="rect">
            <a:avLst/>
          </a:prstGeom>
          <a:noFill/>
        </p:spPr>
        <p:txBody>
          <a:bodyPr wrap="square">
            <a:spAutoFit/>
          </a:bodyPr>
          <a:lstStyle/>
          <a:p>
            <a:pPr>
              <a:spcAft>
                <a:spcPts val="1200"/>
              </a:spcAft>
              <a:defRPr sz="2000" b="0">
                <a:solidFill>
                  <a:srgbClr val="F5F8FC"/>
                </a:solidFill>
                <a:latin typeface="Arial"/>
              </a:defRPr>
            </a:pPr>
            <a:r>
              <a:t>Chronos-2 and TimesFM 3</a:t>
            </a:r>
          </a:p>
          <a:p>
            <a:pPr>
              <a:spcAft>
                <a:spcPts val="1200"/>
              </a:spcAft>
              <a:defRPr sz="2000" b="0">
                <a:solidFill>
                  <a:srgbClr val="F5F8FC"/>
                </a:solidFill>
                <a:latin typeface="Arial"/>
              </a:defRPr>
            </a:pPr>
            <a:r>
              <a:t>Pinned pretrained weights</a:t>
            </a:r>
          </a:p>
          <a:p>
            <a:pPr>
              <a:spcAft>
                <a:spcPts val="1200"/>
              </a:spcAft>
              <a:defRPr sz="2000" b="0">
                <a:solidFill>
                  <a:srgbClr val="F5F8FC"/>
                </a:solidFill>
                <a:latin typeface="Arial"/>
              </a:defRPr>
            </a:pPr>
            <a:r>
              <a:t>Historical context + known calendar</a:t>
            </a:r>
          </a:p>
        </p:txBody>
      </p:sp>
      <p:sp>
        <p:nvSpPr>
          <p:cNvPr id="10" name="Rounded Rectangle 9"/>
          <p:cNvSpPr/>
          <p:nvPr/>
        </p:nvSpPr>
        <p:spPr>
          <a:xfrm>
            <a:off x="8238744" y="1691640"/>
            <a:ext cx="3611880" cy="3337560"/>
          </a:xfrm>
          <a:prstGeom prst="roundRect">
            <a:avLst/>
          </a:prstGeom>
          <a:solidFill>
            <a:srgbClr val="1C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39912" y="1874520"/>
            <a:ext cx="3209544" cy="457200"/>
          </a:xfrm>
          <a:prstGeom prst="rect">
            <a:avLst/>
          </a:prstGeom>
          <a:noFill/>
        </p:spPr>
        <p:txBody>
          <a:bodyPr wrap="square">
            <a:spAutoFit/>
          </a:bodyPr>
          <a:lstStyle/>
          <a:p>
            <a:pPr>
              <a:spcAft>
                <a:spcPts val="1200"/>
              </a:spcAft>
              <a:defRPr sz="2200" b="1">
                <a:solidFill>
                  <a:srgbClr val="36D3BD"/>
                </a:solidFill>
                <a:latin typeface="Arial"/>
              </a:defRPr>
            </a:pPr>
            <a:r>
              <a:t>Fair comparisons</a:t>
            </a:r>
          </a:p>
        </p:txBody>
      </p:sp>
      <p:sp>
        <p:nvSpPr>
          <p:cNvPr id="12" name="TextBox 11"/>
          <p:cNvSpPr txBox="1"/>
          <p:nvPr/>
        </p:nvSpPr>
        <p:spPr>
          <a:xfrm>
            <a:off x="8439912" y="2468880"/>
            <a:ext cx="3209544" cy="2468880"/>
          </a:xfrm>
          <a:prstGeom prst="rect">
            <a:avLst/>
          </a:prstGeom>
          <a:noFill/>
        </p:spPr>
        <p:txBody>
          <a:bodyPr wrap="square">
            <a:spAutoFit/>
          </a:bodyPr>
          <a:lstStyle/>
          <a:p>
            <a:pPr>
              <a:spcAft>
                <a:spcPts val="1200"/>
              </a:spcAft>
              <a:defRPr sz="2000" b="0">
                <a:solidFill>
                  <a:srgbClr val="F5F8FC"/>
                </a:solidFill>
                <a:latin typeface="Arial"/>
              </a:defRPr>
            </a:pPr>
            <a:r>
              <a:t>Same state/origin/lead cases</a:t>
            </a:r>
          </a:p>
          <a:p>
            <a:pPr>
              <a:spcAft>
                <a:spcPts val="1200"/>
              </a:spcAft>
              <a:defRPr sz="2000" b="0">
                <a:solidFill>
                  <a:srgbClr val="F5F8FC"/>
                </a:solidFill>
                <a:latin typeface="Arial"/>
              </a:defRPr>
            </a:pPr>
            <a:r>
              <a:t>Pre-year parameter selection</a:t>
            </a:r>
          </a:p>
          <a:p>
            <a:pPr>
              <a:spcAft>
                <a:spcPts val="1200"/>
              </a:spcAft>
              <a:defRPr sz="2000" b="0">
                <a:solidFill>
                  <a:srgbClr val="F5F8FC"/>
                </a:solidFill>
                <a:latin typeface="Arial"/>
              </a:defRPr>
            </a:pPr>
            <a:r>
              <a:t>Regional transfer tested separately</a:t>
            </a:r>
          </a:p>
        </p:txBody>
      </p:sp>
      <p:sp>
        <p:nvSpPr>
          <p:cNvPr id="13" name="TextBox 12"/>
          <p:cNvSpPr txBox="1"/>
          <p:nvPr/>
        </p:nvSpPr>
        <p:spPr>
          <a:xfrm>
            <a:off x="594360" y="6446520"/>
            <a:ext cx="10972800" cy="256032"/>
          </a:xfrm>
          <a:prstGeom prst="rect">
            <a:avLst/>
          </a:prstGeom>
          <a:noFill/>
        </p:spPr>
        <p:txBody>
          <a:bodyPr wrap="square">
            <a:spAutoFit/>
          </a:bodyPr>
          <a:lstStyle/>
          <a:p>
            <a:pPr>
              <a:spcAft>
                <a:spcPts val="1200"/>
              </a:spcAft>
              <a:defRPr sz="1100" b="0">
                <a:solidFill>
                  <a:srgbClr val="B3C4D8"/>
                </a:solidFill>
                <a:latin typeface="Arial"/>
              </a:defRPr>
            </a:pPr>
            <a:r>
              <a:t>Binay Verma  |  Research in progress  |  1 Nov 2026                          04/12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A2B"/>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a:spAutoFit/>
          </a:bodyPr>
          <a:lstStyle/>
          <a:p>
            <a:pPr>
              <a:spcAft>
                <a:spcPts val="1200"/>
              </a:spcAft>
              <a:defRPr sz="3000" b="1">
                <a:solidFill>
                  <a:srgbClr val="F5F8FC"/>
                </a:solidFill>
                <a:latin typeface="Arial"/>
              </a:defRPr>
            </a:pPr>
            <a:r>
              <a:t>Finding 1: refitting matters</a:t>
            </a:r>
          </a:p>
        </p:txBody>
      </p:sp>
      <p:sp>
        <p:nvSpPr>
          <p:cNvPr id="3" name="Rectangle 2"/>
          <p:cNvSpPr/>
          <p:nvPr/>
        </p:nvSpPr>
        <p:spPr>
          <a:xfrm>
            <a:off x="548640" y="1261872"/>
            <a:ext cx="914400" cy="50292"/>
          </a:xfrm>
          <a:prstGeom prst="rect">
            <a:avLst/>
          </a:prstGeom>
          <a:solidFill>
            <a:srgbClr val="36D3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aseline_refits_for_slides.png"/>
          <p:cNvPicPr>
            <a:picLocks noChangeAspect="1"/>
          </p:cNvPicPr>
          <p:nvPr/>
        </p:nvPicPr>
        <p:blipFill>
          <a:blip r:embed="rId2"/>
          <a:stretch>
            <a:fillRect/>
          </a:stretch>
        </p:blipFill>
        <p:spPr>
          <a:xfrm>
            <a:off x="548640" y="1508760"/>
            <a:ext cx="11064240" cy="3694176"/>
          </a:xfrm>
          <a:prstGeom prst="rect">
            <a:avLst/>
          </a:prstGeom>
        </p:spPr>
      </p:pic>
      <p:sp>
        <p:nvSpPr>
          <p:cNvPr id="5" name="TextBox 4"/>
          <p:cNvSpPr txBox="1"/>
          <p:nvPr/>
        </p:nvSpPr>
        <p:spPr>
          <a:xfrm>
            <a:off x="594360" y="5440680"/>
            <a:ext cx="10972800" cy="548640"/>
          </a:xfrm>
          <a:prstGeom prst="rect">
            <a:avLst/>
          </a:prstGeom>
          <a:noFill/>
        </p:spPr>
        <p:txBody>
          <a:bodyPr wrap="square">
            <a:spAutoFit/>
          </a:bodyPr>
          <a:lstStyle/>
          <a:p>
            <a:pPr>
              <a:spcAft>
                <a:spcPts val="1200"/>
              </a:spcAft>
              <a:defRPr sz="2200" b="1">
                <a:solidFill>
                  <a:srgbClr val="36D3BD"/>
                </a:solidFill>
                <a:latin typeface="Arial"/>
              </a:defRPr>
            </a:pPr>
            <a:r>
              <a:t>Monthly updates improve several aggregates, but can worsen individual festival-year results.</a:t>
            </a:r>
          </a:p>
        </p:txBody>
      </p:sp>
      <p:sp>
        <p:nvSpPr>
          <p:cNvPr id="6" name="TextBox 5"/>
          <p:cNvSpPr txBox="1"/>
          <p:nvPr/>
        </p:nvSpPr>
        <p:spPr>
          <a:xfrm>
            <a:off x="594360" y="5989320"/>
            <a:ext cx="10972800" cy="274320"/>
          </a:xfrm>
          <a:prstGeom prst="rect">
            <a:avLst/>
          </a:prstGeom>
          <a:noFill/>
        </p:spPr>
        <p:txBody>
          <a:bodyPr wrap="square">
            <a:spAutoFit/>
          </a:bodyPr>
          <a:lstStyle/>
          <a:p>
            <a:pPr>
              <a:spcAft>
                <a:spcPts val="1200"/>
              </a:spcAft>
              <a:defRPr sz="1100" b="0">
                <a:solidFill>
                  <a:srgbClr val="B3C4D8"/>
                </a:solidFill>
                <a:latin typeface="Arial"/>
              </a:defRPr>
            </a:pPr>
            <a:r>
              <a:t>Partial 2026, identical cases. Ridge version 1; tree float32 version 2; cached Chronos history.</a:t>
            </a:r>
          </a:p>
        </p:txBody>
      </p:sp>
      <p:sp>
        <p:nvSpPr>
          <p:cNvPr id="7" name="TextBox 6"/>
          <p:cNvSpPr txBox="1"/>
          <p:nvPr/>
        </p:nvSpPr>
        <p:spPr>
          <a:xfrm>
            <a:off x="594360" y="6446520"/>
            <a:ext cx="10972800" cy="256032"/>
          </a:xfrm>
          <a:prstGeom prst="rect">
            <a:avLst/>
          </a:prstGeom>
          <a:noFill/>
        </p:spPr>
        <p:txBody>
          <a:bodyPr wrap="square">
            <a:spAutoFit/>
          </a:bodyPr>
          <a:lstStyle/>
          <a:p>
            <a:pPr>
              <a:spcAft>
                <a:spcPts val="1200"/>
              </a:spcAft>
              <a:defRPr sz="1100" b="0">
                <a:solidFill>
                  <a:srgbClr val="B3C4D8"/>
                </a:solidFill>
                <a:latin typeface="Arial"/>
              </a:defRPr>
            </a:pPr>
            <a:r>
              <a:t>Binay Verma  |  Research in progress  |  1 Nov 2026                          05/12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A2B"/>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a:spAutoFit/>
          </a:bodyPr>
          <a:lstStyle/>
          <a:p>
            <a:pPr>
              <a:spcAft>
                <a:spcPts val="1200"/>
              </a:spcAft>
              <a:defRPr sz="3000" b="1">
                <a:solidFill>
                  <a:srgbClr val="F5F8FC"/>
                </a:solidFill>
                <a:latin typeface="Arial"/>
              </a:defRPr>
            </a:pPr>
            <a:r>
              <a:t>Controls before making a calendar claim</a:t>
            </a:r>
          </a:p>
        </p:txBody>
      </p:sp>
      <p:sp>
        <p:nvSpPr>
          <p:cNvPr id="3" name="Rectangle 2"/>
          <p:cNvSpPr/>
          <p:nvPr/>
        </p:nvSpPr>
        <p:spPr>
          <a:xfrm>
            <a:off x="548640" y="1261872"/>
            <a:ext cx="914400" cy="50292"/>
          </a:xfrm>
          <a:prstGeom prst="rect">
            <a:avLst/>
          </a:prstGeom>
          <a:solidFill>
            <a:srgbClr val="36D3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94360" y="1691640"/>
            <a:ext cx="3611880" cy="3337560"/>
          </a:xfrm>
          <a:prstGeom prst="roundRect">
            <a:avLst/>
          </a:prstGeom>
          <a:solidFill>
            <a:srgbClr val="1C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1874520"/>
            <a:ext cx="3209544" cy="457200"/>
          </a:xfrm>
          <a:prstGeom prst="rect">
            <a:avLst/>
          </a:prstGeom>
          <a:noFill/>
        </p:spPr>
        <p:txBody>
          <a:bodyPr wrap="square">
            <a:spAutoFit/>
          </a:bodyPr>
          <a:lstStyle/>
          <a:p>
            <a:pPr>
              <a:spcAft>
                <a:spcPts val="1200"/>
              </a:spcAft>
              <a:defRPr sz="2200" b="1">
                <a:solidFill>
                  <a:srgbClr val="36D3BD"/>
                </a:solidFill>
                <a:latin typeface="Arial"/>
              </a:defRPr>
            </a:pPr>
            <a:r>
              <a:t>Hold dimensions equal</a:t>
            </a:r>
          </a:p>
        </p:txBody>
      </p:sp>
      <p:sp>
        <p:nvSpPr>
          <p:cNvPr id="6" name="TextBox 5"/>
          <p:cNvSpPr txBox="1"/>
          <p:nvPr/>
        </p:nvSpPr>
        <p:spPr>
          <a:xfrm>
            <a:off x="795528" y="2468880"/>
            <a:ext cx="3209544" cy="2468880"/>
          </a:xfrm>
          <a:prstGeom prst="rect">
            <a:avLst/>
          </a:prstGeom>
          <a:noFill/>
        </p:spPr>
        <p:txBody>
          <a:bodyPr wrap="square">
            <a:spAutoFit/>
          </a:bodyPr>
          <a:lstStyle/>
          <a:p>
            <a:pPr>
              <a:spcAft>
                <a:spcPts val="1200"/>
              </a:spcAft>
              <a:defRPr sz="2000" b="0">
                <a:solidFill>
                  <a:srgbClr val="F5F8FC"/>
                </a:solidFill>
                <a:latin typeface="Arial"/>
              </a:defRPr>
            </a:pPr>
            <a:r>
              <a:t>Generic vs regional dates</a:t>
            </a:r>
          </a:p>
          <a:p>
            <a:pPr>
              <a:spcAft>
                <a:spcPts val="1200"/>
              </a:spcAft>
              <a:defRPr sz="2000" b="0">
                <a:solidFill>
                  <a:srgbClr val="F5F8FC"/>
                </a:solidFill>
                <a:latin typeface="Arial"/>
              </a:defRPr>
            </a:pPr>
            <a:r>
              <a:t>One scalar window or seven offset channels</a:t>
            </a:r>
          </a:p>
        </p:txBody>
      </p:sp>
      <p:sp>
        <p:nvSpPr>
          <p:cNvPr id="7" name="Rounded Rectangle 6"/>
          <p:cNvSpPr/>
          <p:nvPr/>
        </p:nvSpPr>
        <p:spPr>
          <a:xfrm>
            <a:off x="4416552" y="1691640"/>
            <a:ext cx="3611880" cy="3337560"/>
          </a:xfrm>
          <a:prstGeom prst="roundRect">
            <a:avLst/>
          </a:prstGeom>
          <a:solidFill>
            <a:srgbClr val="1C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874520"/>
            <a:ext cx="3209544" cy="457200"/>
          </a:xfrm>
          <a:prstGeom prst="rect">
            <a:avLst/>
          </a:prstGeom>
          <a:noFill/>
        </p:spPr>
        <p:txBody>
          <a:bodyPr wrap="square">
            <a:spAutoFit/>
          </a:bodyPr>
          <a:lstStyle/>
          <a:p>
            <a:pPr>
              <a:spcAft>
                <a:spcPts val="1200"/>
              </a:spcAft>
              <a:defRPr sz="2200" b="1">
                <a:solidFill>
                  <a:srgbClr val="36D3BD"/>
                </a:solidFill>
                <a:latin typeface="Arial"/>
              </a:defRPr>
            </a:pPr>
            <a:r>
              <a:t>Add negative controls</a:t>
            </a:r>
          </a:p>
        </p:txBody>
      </p:sp>
      <p:sp>
        <p:nvSpPr>
          <p:cNvPr id="9" name="TextBox 8"/>
          <p:cNvSpPr txBox="1"/>
          <p:nvPr/>
        </p:nvSpPr>
        <p:spPr>
          <a:xfrm>
            <a:off x="4617720" y="2468880"/>
            <a:ext cx="3209544" cy="2468880"/>
          </a:xfrm>
          <a:prstGeom prst="rect">
            <a:avLst/>
          </a:prstGeom>
          <a:noFill/>
        </p:spPr>
        <p:txBody>
          <a:bodyPr wrap="square">
            <a:spAutoFit/>
          </a:bodyPr>
          <a:lstStyle/>
          <a:p>
            <a:pPr>
              <a:spcAft>
                <a:spcPts val="1200"/>
              </a:spcAft>
              <a:defRPr sz="2000" b="0">
                <a:solidFill>
                  <a:srgbClr val="F5F8FC"/>
                </a:solidFill>
                <a:latin typeface="Arial"/>
              </a:defRPr>
            </a:pPr>
            <a:r>
              <a:t>One/seven zero channels</a:t>
            </a:r>
          </a:p>
          <a:p>
            <a:pPr>
              <a:spcAft>
                <a:spcPts val="1200"/>
              </a:spcAft>
              <a:defRPr sz="2000" b="0">
                <a:solidFill>
                  <a:srgbClr val="F5F8FC"/>
                </a:solidFill>
                <a:latin typeface="Arial"/>
              </a:defRPr>
            </a:pPr>
            <a:r>
              <a:t>Active weekday/season-matched placebo dates</a:t>
            </a:r>
          </a:p>
        </p:txBody>
      </p:sp>
      <p:sp>
        <p:nvSpPr>
          <p:cNvPr id="10" name="Rounded Rectangle 9"/>
          <p:cNvSpPr/>
          <p:nvPr/>
        </p:nvSpPr>
        <p:spPr>
          <a:xfrm>
            <a:off x="8238744" y="1691640"/>
            <a:ext cx="3611880" cy="3337560"/>
          </a:xfrm>
          <a:prstGeom prst="roundRect">
            <a:avLst/>
          </a:prstGeom>
          <a:solidFill>
            <a:srgbClr val="1C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39912" y="1874520"/>
            <a:ext cx="3209544" cy="457200"/>
          </a:xfrm>
          <a:prstGeom prst="rect">
            <a:avLst/>
          </a:prstGeom>
          <a:noFill/>
        </p:spPr>
        <p:txBody>
          <a:bodyPr wrap="square">
            <a:spAutoFit/>
          </a:bodyPr>
          <a:lstStyle/>
          <a:p>
            <a:pPr>
              <a:spcAft>
                <a:spcPts val="1200"/>
              </a:spcAft>
              <a:defRPr sz="2200" b="1">
                <a:solidFill>
                  <a:srgbClr val="36D3BD"/>
                </a:solidFill>
                <a:latin typeface="Arial"/>
              </a:defRPr>
            </a:pPr>
            <a:r>
              <a:t>Keep evidence fixed</a:t>
            </a:r>
          </a:p>
        </p:txBody>
      </p:sp>
      <p:sp>
        <p:nvSpPr>
          <p:cNvPr id="12" name="TextBox 11"/>
          <p:cNvSpPr txBox="1"/>
          <p:nvPr/>
        </p:nvSpPr>
        <p:spPr>
          <a:xfrm>
            <a:off x="8439912" y="2468880"/>
            <a:ext cx="3209544" cy="2468880"/>
          </a:xfrm>
          <a:prstGeom prst="rect">
            <a:avLst/>
          </a:prstGeom>
          <a:noFill/>
        </p:spPr>
        <p:txBody>
          <a:bodyPr wrap="square">
            <a:spAutoFit/>
          </a:bodyPr>
          <a:lstStyle/>
          <a:p>
            <a:pPr>
              <a:spcAft>
                <a:spcPts val="1200"/>
              </a:spcAft>
              <a:defRPr sz="2000" b="0">
                <a:solidFill>
                  <a:srgbClr val="F5F8FC"/>
                </a:solidFill>
                <a:latin typeface="Arial"/>
              </a:defRPr>
            </a:pPr>
            <a:r>
              <a:t>Same 150 historical cases per arm</a:t>
            </a:r>
          </a:p>
          <a:p>
            <a:pPr>
              <a:spcAft>
                <a:spcPts val="1200"/>
              </a:spcAft>
              <a:defRPr sz="2000" b="0">
                <a:solidFill>
                  <a:srgbClr val="F5F8FC"/>
                </a:solidFill>
                <a:latin typeface="Arial"/>
              </a:defRPr>
            </a:pPr>
            <a:r>
              <a:t>Two models, nine arms</a:t>
            </a:r>
          </a:p>
          <a:p>
            <a:pPr>
              <a:spcAft>
                <a:spcPts val="1200"/>
              </a:spcAft>
              <a:defRPr sz="2000" b="0">
                <a:solidFill>
                  <a:srgbClr val="F5F8FC"/>
                </a:solidFill>
                <a:latin typeface="Arial"/>
              </a:defRPr>
            </a:pPr>
            <a:r>
              <a:t>Individual years and failures retained</a:t>
            </a:r>
          </a:p>
        </p:txBody>
      </p:sp>
      <p:sp>
        <p:nvSpPr>
          <p:cNvPr id="13" name="TextBox 12"/>
          <p:cNvSpPr txBox="1"/>
          <p:nvPr/>
        </p:nvSpPr>
        <p:spPr>
          <a:xfrm>
            <a:off x="594360" y="6446520"/>
            <a:ext cx="10972800" cy="256032"/>
          </a:xfrm>
          <a:prstGeom prst="rect">
            <a:avLst/>
          </a:prstGeom>
          <a:noFill/>
        </p:spPr>
        <p:txBody>
          <a:bodyPr wrap="square">
            <a:spAutoFit/>
          </a:bodyPr>
          <a:lstStyle/>
          <a:p>
            <a:pPr>
              <a:spcAft>
                <a:spcPts val="1200"/>
              </a:spcAft>
              <a:defRPr sz="1100" b="0">
                <a:solidFill>
                  <a:srgbClr val="B3C4D8"/>
                </a:solidFill>
                <a:latin typeface="Arial"/>
              </a:defRPr>
            </a:pPr>
            <a:r>
              <a:t>Binay Verma  |  Research in progress  |  1 Nov 2026                          06/12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A2B"/>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a:spAutoFit/>
          </a:bodyPr>
          <a:lstStyle/>
          <a:p>
            <a:pPr>
              <a:spcAft>
                <a:spcPts val="1200"/>
              </a:spcAft>
              <a:defRPr sz="3000" b="1">
                <a:solidFill>
                  <a:srgbClr val="F5F8FC"/>
                </a:solidFill>
                <a:latin typeface="Arial"/>
              </a:defRPr>
            </a:pPr>
            <a:r>
              <a:t>Finding 2: representation changes the answer</a:t>
            </a:r>
          </a:p>
        </p:txBody>
      </p:sp>
      <p:sp>
        <p:nvSpPr>
          <p:cNvPr id="3" name="Rectangle 2"/>
          <p:cNvSpPr/>
          <p:nvPr/>
        </p:nvSpPr>
        <p:spPr>
          <a:xfrm>
            <a:off x="548640" y="1261872"/>
            <a:ext cx="914400" cy="50292"/>
          </a:xfrm>
          <a:prstGeom prst="rect">
            <a:avLst/>
          </a:prstGeom>
          <a:solidFill>
            <a:srgbClr val="36D3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ntrolled_regional_effects.png"/>
          <p:cNvPicPr>
            <a:picLocks noChangeAspect="1"/>
          </p:cNvPicPr>
          <p:nvPr/>
        </p:nvPicPr>
        <p:blipFill>
          <a:blip r:embed="rId2"/>
          <a:stretch>
            <a:fillRect/>
          </a:stretch>
        </p:blipFill>
        <p:spPr>
          <a:xfrm>
            <a:off x="548640" y="1508760"/>
            <a:ext cx="11064240" cy="3694176"/>
          </a:xfrm>
          <a:prstGeom prst="rect">
            <a:avLst/>
          </a:prstGeom>
        </p:spPr>
      </p:pic>
      <p:sp>
        <p:nvSpPr>
          <p:cNvPr id="5" name="TextBox 4"/>
          <p:cNvSpPr txBox="1"/>
          <p:nvPr/>
        </p:nvSpPr>
        <p:spPr>
          <a:xfrm>
            <a:off x="594360" y="5440680"/>
            <a:ext cx="10972800" cy="548640"/>
          </a:xfrm>
          <a:prstGeom prst="rect">
            <a:avLst/>
          </a:prstGeom>
          <a:noFill/>
        </p:spPr>
        <p:txBody>
          <a:bodyPr wrap="square">
            <a:spAutoFit/>
          </a:bodyPr>
          <a:lstStyle/>
          <a:p>
            <a:pPr>
              <a:spcAft>
                <a:spcPts val="1200"/>
              </a:spcAft>
              <a:defRPr sz="2200" b="1">
                <a:solidFill>
                  <a:srgbClr val="36D3BD"/>
                </a:solidFill>
                <a:latin typeface="Arial"/>
              </a:defRPr>
            </a:pPr>
            <a:r>
              <a:t>Regional gains depend on the model, lead and representation.</a:t>
            </a:r>
          </a:p>
        </p:txBody>
      </p:sp>
      <p:sp>
        <p:nvSpPr>
          <p:cNvPr id="6" name="TextBox 5"/>
          <p:cNvSpPr txBox="1"/>
          <p:nvPr/>
        </p:nvSpPr>
        <p:spPr>
          <a:xfrm>
            <a:off x="594360" y="5989320"/>
            <a:ext cx="10972800" cy="274320"/>
          </a:xfrm>
          <a:prstGeom prst="rect">
            <a:avLst/>
          </a:prstGeom>
          <a:noFill/>
        </p:spPr>
        <p:txBody>
          <a:bodyPr wrap="square">
            <a:spAutoFit/>
          </a:bodyPr>
          <a:lstStyle/>
          <a:p>
            <a:pPr>
              <a:spcAft>
                <a:spcPts val="1200"/>
              </a:spcAft>
              <a:defRPr sz="1100" b="0">
                <a:solidFill>
                  <a:srgbClr val="B3C4D8"/>
                </a:solidFill>
                <a:latin typeface="Arial"/>
              </a:defRPr>
            </a:pPr>
            <a:r>
              <a:t>Two historical event years; equal channel counts within each comparison; positive = lower MAE.</a:t>
            </a:r>
          </a:p>
        </p:txBody>
      </p:sp>
      <p:sp>
        <p:nvSpPr>
          <p:cNvPr id="7" name="TextBox 6"/>
          <p:cNvSpPr txBox="1"/>
          <p:nvPr/>
        </p:nvSpPr>
        <p:spPr>
          <a:xfrm>
            <a:off x="594360" y="6446520"/>
            <a:ext cx="10972800" cy="256032"/>
          </a:xfrm>
          <a:prstGeom prst="rect">
            <a:avLst/>
          </a:prstGeom>
          <a:noFill/>
        </p:spPr>
        <p:txBody>
          <a:bodyPr wrap="square">
            <a:spAutoFit/>
          </a:bodyPr>
          <a:lstStyle/>
          <a:p>
            <a:pPr>
              <a:spcAft>
                <a:spcPts val="1200"/>
              </a:spcAft>
              <a:defRPr sz="1100" b="0">
                <a:solidFill>
                  <a:srgbClr val="B3C4D8"/>
                </a:solidFill>
                <a:latin typeface="Arial"/>
              </a:defRPr>
            </a:pPr>
            <a:r>
              <a:t>Binay Verma  |  Research in progress  |  1 Nov 2026                          07/12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01A2B"/>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a:spAutoFit/>
          </a:bodyPr>
          <a:lstStyle/>
          <a:p>
            <a:pPr>
              <a:spcAft>
                <a:spcPts val="1200"/>
              </a:spcAft>
              <a:defRPr sz="3000" b="1">
                <a:solidFill>
                  <a:srgbClr val="F5F8FC"/>
                </a:solidFill>
                <a:latin typeface="Arial"/>
              </a:defRPr>
            </a:pPr>
            <a:r>
              <a:t>Quality checks found issues worth reporting</a:t>
            </a:r>
          </a:p>
        </p:txBody>
      </p:sp>
      <p:sp>
        <p:nvSpPr>
          <p:cNvPr id="3" name="Rectangle 2"/>
          <p:cNvSpPr/>
          <p:nvPr/>
        </p:nvSpPr>
        <p:spPr>
          <a:xfrm>
            <a:off x="548640" y="1261872"/>
            <a:ext cx="914400" cy="50292"/>
          </a:xfrm>
          <a:prstGeom prst="rect">
            <a:avLst/>
          </a:prstGeom>
          <a:solidFill>
            <a:srgbClr val="36D3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94360" y="1691640"/>
            <a:ext cx="3611880" cy="3337560"/>
          </a:xfrm>
          <a:prstGeom prst="roundRect">
            <a:avLst/>
          </a:prstGeom>
          <a:solidFill>
            <a:srgbClr val="1C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1874520"/>
            <a:ext cx="3209544" cy="457200"/>
          </a:xfrm>
          <a:prstGeom prst="rect">
            <a:avLst/>
          </a:prstGeom>
          <a:noFill/>
        </p:spPr>
        <p:txBody>
          <a:bodyPr wrap="square">
            <a:spAutoFit/>
          </a:bodyPr>
          <a:lstStyle/>
          <a:p>
            <a:pPr>
              <a:spcAft>
                <a:spcPts val="1200"/>
              </a:spcAft>
              <a:defRPr sz="2200" b="1">
                <a:solidFill>
                  <a:srgbClr val="36D3BD"/>
                </a:solidFill>
                <a:latin typeface="Arial"/>
              </a:defRPr>
            </a:pPr>
            <a:r>
              <a:t>Data revisions</a:t>
            </a:r>
          </a:p>
        </p:txBody>
      </p:sp>
      <p:sp>
        <p:nvSpPr>
          <p:cNvPr id="6" name="TextBox 5"/>
          <p:cNvSpPr txBox="1"/>
          <p:nvPr/>
        </p:nvSpPr>
        <p:spPr>
          <a:xfrm>
            <a:off x="795528" y="2468880"/>
            <a:ext cx="3209544" cy="2468880"/>
          </a:xfrm>
          <a:prstGeom prst="rect">
            <a:avLst/>
          </a:prstGeom>
          <a:noFill/>
        </p:spPr>
        <p:txBody>
          <a:bodyPr wrap="square">
            <a:spAutoFit/>
          </a:bodyPr>
          <a:lstStyle/>
          <a:p>
            <a:pPr>
              <a:spcAft>
                <a:spcPts val="1200"/>
              </a:spcAft>
              <a:defRPr sz="2000" b="0">
                <a:solidFill>
                  <a:srgbClr val="F5F8FC"/>
                </a:solidFill>
                <a:latin typeface="Arial"/>
              </a:defRPr>
            </a:pPr>
            <a:r>
              <a:t>Archived values differ from later snapshots by up to 61.5 GWh in the reviewed cases.</a:t>
            </a:r>
          </a:p>
        </p:txBody>
      </p:sp>
      <p:sp>
        <p:nvSpPr>
          <p:cNvPr id="7" name="Rounded Rectangle 6"/>
          <p:cNvSpPr/>
          <p:nvPr/>
        </p:nvSpPr>
        <p:spPr>
          <a:xfrm>
            <a:off x="4416552" y="1691640"/>
            <a:ext cx="3611880" cy="3337560"/>
          </a:xfrm>
          <a:prstGeom prst="roundRect">
            <a:avLst/>
          </a:prstGeom>
          <a:solidFill>
            <a:srgbClr val="1C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874520"/>
            <a:ext cx="3209544" cy="457200"/>
          </a:xfrm>
          <a:prstGeom prst="rect">
            <a:avLst/>
          </a:prstGeom>
          <a:noFill/>
        </p:spPr>
        <p:txBody>
          <a:bodyPr wrap="square">
            <a:spAutoFit/>
          </a:bodyPr>
          <a:lstStyle/>
          <a:p>
            <a:pPr>
              <a:spcAft>
                <a:spcPts val="1200"/>
              </a:spcAft>
              <a:defRPr sz="2200" b="1">
                <a:solidFill>
                  <a:srgbClr val="36D3BD"/>
                </a:solidFill>
                <a:latin typeface="Arial"/>
              </a:defRPr>
            </a:pPr>
            <a:r>
              <a:t>Reporting availability</a:t>
            </a:r>
          </a:p>
        </p:txBody>
      </p:sp>
      <p:sp>
        <p:nvSpPr>
          <p:cNvPr id="9" name="TextBox 8"/>
          <p:cNvSpPr txBox="1"/>
          <p:nvPr/>
        </p:nvSpPr>
        <p:spPr>
          <a:xfrm>
            <a:off x="4617720" y="2468880"/>
            <a:ext cx="3209544" cy="2468880"/>
          </a:xfrm>
          <a:prstGeom prst="rect">
            <a:avLst/>
          </a:prstGeom>
          <a:noFill/>
        </p:spPr>
        <p:txBody>
          <a:bodyPr wrap="square">
            <a:spAutoFit/>
          </a:bodyPr>
          <a:lstStyle/>
          <a:p>
            <a:pPr>
              <a:spcAft>
                <a:spcPts val="1200"/>
              </a:spcAft>
              <a:defRPr sz="2000" b="0">
                <a:solidFill>
                  <a:srgbClr val="F5F8FC"/>
                </a:solidFill>
                <a:latin typeface="Arial"/>
              </a:defRPr>
            </a:pPr>
            <a:r>
              <a:t>Two tested issue-date snapshots lag by 2–3 calendar days; matched errors increase about 3.9–11.3%.</a:t>
            </a:r>
          </a:p>
        </p:txBody>
      </p:sp>
      <p:sp>
        <p:nvSpPr>
          <p:cNvPr id="10" name="Rounded Rectangle 9"/>
          <p:cNvSpPr/>
          <p:nvPr/>
        </p:nvSpPr>
        <p:spPr>
          <a:xfrm>
            <a:off x="8238744" y="1691640"/>
            <a:ext cx="3611880" cy="3337560"/>
          </a:xfrm>
          <a:prstGeom prst="roundRect">
            <a:avLst/>
          </a:prstGeom>
          <a:solidFill>
            <a:srgbClr val="1C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39912" y="1874520"/>
            <a:ext cx="3209544" cy="457200"/>
          </a:xfrm>
          <a:prstGeom prst="rect">
            <a:avLst/>
          </a:prstGeom>
          <a:noFill/>
        </p:spPr>
        <p:txBody>
          <a:bodyPr wrap="square">
            <a:spAutoFit/>
          </a:bodyPr>
          <a:lstStyle/>
          <a:p>
            <a:pPr>
              <a:spcAft>
                <a:spcPts val="1200"/>
              </a:spcAft>
              <a:defRPr sz="2200" b="1">
                <a:solidFill>
                  <a:srgbClr val="36D3BD"/>
                </a:solidFill>
                <a:latin typeface="Arial"/>
              </a:defRPr>
            </a:pPr>
            <a:r>
              <a:t>Numerical stability</a:t>
            </a:r>
          </a:p>
        </p:txBody>
      </p:sp>
      <p:sp>
        <p:nvSpPr>
          <p:cNvPr id="12" name="TextBox 11"/>
          <p:cNvSpPr txBox="1"/>
          <p:nvPr/>
        </p:nvSpPr>
        <p:spPr>
          <a:xfrm>
            <a:off x="8439912" y="2468880"/>
            <a:ext cx="3209544" cy="2468880"/>
          </a:xfrm>
          <a:prstGeom prst="rect">
            <a:avLst/>
          </a:prstGeom>
          <a:noFill/>
        </p:spPr>
        <p:txBody>
          <a:bodyPr wrap="square">
            <a:spAutoFit/>
          </a:bodyPr>
          <a:lstStyle/>
          <a:p>
            <a:pPr>
              <a:spcAft>
                <a:spcPts val="1200"/>
              </a:spcAft>
              <a:defRPr sz="2000" b="0">
                <a:solidFill>
                  <a:srgbClr val="F5F8FC"/>
                </a:solidFill>
                <a:latin typeface="Arial"/>
              </a:defRPr>
            </a:pPr>
            <a:r>
              <a:t>Tiny rolling-arithmetic differences affect trees. A separate float32 contract reproduces the checked examples.</a:t>
            </a:r>
          </a:p>
        </p:txBody>
      </p:sp>
      <p:sp>
        <p:nvSpPr>
          <p:cNvPr id="13" name="TextBox 12"/>
          <p:cNvSpPr txBox="1"/>
          <p:nvPr/>
        </p:nvSpPr>
        <p:spPr>
          <a:xfrm>
            <a:off x="640080" y="5440680"/>
            <a:ext cx="10789920" cy="731520"/>
          </a:xfrm>
          <a:prstGeom prst="rect">
            <a:avLst/>
          </a:prstGeom>
          <a:noFill/>
        </p:spPr>
        <p:txBody>
          <a:bodyPr wrap="square">
            <a:spAutoFit/>
          </a:bodyPr>
          <a:lstStyle/>
          <a:p>
            <a:pPr>
              <a:spcAft>
                <a:spcPts val="1200"/>
              </a:spcAft>
              <a:defRPr sz="2100" b="0">
                <a:solidFill>
                  <a:srgbClr val="FFCA69"/>
                </a:solidFill>
                <a:latin typeface="Arial"/>
              </a:defRPr>
            </a:pPr>
            <a:r>
              <a:t>32 tests pass; separate-environment/software review is not external peer approval.</a:t>
            </a:r>
          </a:p>
        </p:txBody>
      </p:sp>
      <p:sp>
        <p:nvSpPr>
          <p:cNvPr id="14" name="TextBox 13"/>
          <p:cNvSpPr txBox="1"/>
          <p:nvPr/>
        </p:nvSpPr>
        <p:spPr>
          <a:xfrm>
            <a:off x="594360" y="6446520"/>
            <a:ext cx="10972800" cy="256032"/>
          </a:xfrm>
          <a:prstGeom prst="rect">
            <a:avLst/>
          </a:prstGeom>
          <a:noFill/>
        </p:spPr>
        <p:txBody>
          <a:bodyPr wrap="square">
            <a:spAutoFit/>
          </a:bodyPr>
          <a:lstStyle/>
          <a:p>
            <a:pPr>
              <a:spcAft>
                <a:spcPts val="1200"/>
              </a:spcAft>
              <a:defRPr sz="1100" b="0">
                <a:solidFill>
                  <a:srgbClr val="B3C4D8"/>
                </a:solidFill>
                <a:latin typeface="Arial"/>
              </a:defRPr>
            </a:pPr>
            <a:r>
              <a:t>Binay Verma  |  Research in progress  |  1 Nov 2026                          08/12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1A2B"/>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a:spAutoFit/>
          </a:bodyPr>
          <a:lstStyle/>
          <a:p>
            <a:pPr>
              <a:spcAft>
                <a:spcPts val="1200"/>
              </a:spcAft>
              <a:defRPr sz="3000" b="1">
                <a:solidFill>
                  <a:srgbClr val="F5F8FC"/>
                </a:solidFill>
                <a:latin typeface="Arial"/>
              </a:defRPr>
            </a:pPr>
            <a:r>
              <a:t>Prospective validation: frozen before outcomes</a:t>
            </a:r>
          </a:p>
        </p:txBody>
      </p:sp>
      <p:sp>
        <p:nvSpPr>
          <p:cNvPr id="3" name="Rectangle 2"/>
          <p:cNvSpPr/>
          <p:nvPr/>
        </p:nvSpPr>
        <p:spPr>
          <a:xfrm>
            <a:off x="548640" y="1261872"/>
            <a:ext cx="914400" cy="50292"/>
          </a:xfrm>
          <a:prstGeom prst="rect">
            <a:avLst/>
          </a:prstGeom>
          <a:solidFill>
            <a:srgbClr val="36D3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94360" y="1691640"/>
            <a:ext cx="3611880" cy="3200400"/>
          </a:xfrm>
          <a:prstGeom prst="roundRect">
            <a:avLst/>
          </a:prstGeom>
          <a:solidFill>
            <a:srgbClr val="1C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1874520"/>
            <a:ext cx="3209544" cy="457200"/>
          </a:xfrm>
          <a:prstGeom prst="rect">
            <a:avLst/>
          </a:prstGeom>
          <a:noFill/>
        </p:spPr>
        <p:txBody>
          <a:bodyPr wrap="square">
            <a:spAutoFit/>
          </a:bodyPr>
          <a:lstStyle/>
          <a:p>
            <a:pPr>
              <a:spcAft>
                <a:spcPts val="1200"/>
              </a:spcAft>
              <a:defRPr sz="2200" b="1">
                <a:solidFill>
                  <a:srgbClr val="36D3BD"/>
                </a:solidFill>
                <a:latin typeface="Arial"/>
              </a:defRPr>
            </a:pPr>
            <a:r>
              <a:t>30 October</a:t>
            </a:r>
          </a:p>
        </p:txBody>
      </p:sp>
      <p:sp>
        <p:nvSpPr>
          <p:cNvPr id="6" name="TextBox 5"/>
          <p:cNvSpPr txBox="1"/>
          <p:nvPr/>
        </p:nvSpPr>
        <p:spPr>
          <a:xfrm>
            <a:off x="795528" y="2468880"/>
            <a:ext cx="3209544" cy="2331720"/>
          </a:xfrm>
          <a:prstGeom prst="rect">
            <a:avLst/>
          </a:prstGeom>
          <a:noFill/>
        </p:spPr>
        <p:txBody>
          <a:bodyPr wrap="square">
            <a:spAutoFit/>
          </a:bodyPr>
          <a:lstStyle/>
          <a:p>
            <a:pPr>
              <a:spcAft>
                <a:spcPts val="1200"/>
              </a:spcAft>
              <a:defRPr sz="2000" b="0">
                <a:solidFill>
                  <a:srgbClr val="F5F8FC"/>
                </a:solidFill>
                <a:latin typeface="Arial"/>
              </a:defRPr>
            </a:pPr>
            <a:r>
              <a:t>Forecasts frozen in Git</a:t>
            </a:r>
          </a:p>
          <a:p>
            <a:pPr>
              <a:spcAft>
                <a:spcPts val="1200"/>
              </a:spcAft>
              <a:defRPr sz="2000" b="0">
                <a:solidFill>
                  <a:srgbClr val="F5F8FC"/>
                </a:solidFill>
                <a:latin typeface="Arial"/>
              </a:defRPr>
            </a:pPr>
            <a:r>
              <a:t>Observed context ends 28 Oct</a:t>
            </a:r>
          </a:p>
        </p:txBody>
      </p:sp>
      <p:sp>
        <p:nvSpPr>
          <p:cNvPr id="7" name="Rounded Rectangle 6"/>
          <p:cNvSpPr/>
          <p:nvPr/>
        </p:nvSpPr>
        <p:spPr>
          <a:xfrm>
            <a:off x="4416552" y="1691640"/>
            <a:ext cx="3611880" cy="3200400"/>
          </a:xfrm>
          <a:prstGeom prst="roundRect">
            <a:avLst/>
          </a:prstGeom>
          <a:solidFill>
            <a:srgbClr val="1C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874520"/>
            <a:ext cx="3209544" cy="457200"/>
          </a:xfrm>
          <a:prstGeom prst="rect">
            <a:avLst/>
          </a:prstGeom>
          <a:noFill/>
        </p:spPr>
        <p:txBody>
          <a:bodyPr wrap="square">
            <a:spAutoFit/>
          </a:bodyPr>
          <a:lstStyle/>
          <a:p>
            <a:pPr>
              <a:spcAft>
                <a:spcPts val="1200"/>
              </a:spcAft>
              <a:defRPr sz="2200" b="1">
                <a:solidFill>
                  <a:srgbClr val="36D3BD"/>
                </a:solidFill>
                <a:latin typeface="Arial"/>
              </a:defRPr>
            </a:pPr>
            <a:r>
              <a:t>31 Oct–11 Nov</a:t>
            </a:r>
          </a:p>
        </p:txBody>
      </p:sp>
      <p:sp>
        <p:nvSpPr>
          <p:cNvPr id="9" name="TextBox 8"/>
          <p:cNvSpPr txBox="1"/>
          <p:nvPr/>
        </p:nvSpPr>
        <p:spPr>
          <a:xfrm>
            <a:off x="4617720" y="2468880"/>
            <a:ext cx="3209544" cy="2331720"/>
          </a:xfrm>
          <a:prstGeom prst="rect">
            <a:avLst/>
          </a:prstGeom>
          <a:noFill/>
        </p:spPr>
        <p:txBody>
          <a:bodyPr wrap="square">
            <a:spAutoFit/>
          </a:bodyPr>
          <a:lstStyle/>
          <a:p>
            <a:pPr>
              <a:spcAft>
                <a:spcPts val="1200"/>
              </a:spcAft>
              <a:defRPr sz="2000" b="0">
                <a:solidFill>
                  <a:srgbClr val="F5F8FC"/>
                </a:solidFill>
                <a:latin typeface="Arial"/>
              </a:defRPr>
            </a:pPr>
            <a:r>
              <a:t>Eligible target dates</a:t>
            </a:r>
          </a:p>
          <a:p>
            <a:pPr>
              <a:spcAft>
                <a:spcPts val="1200"/>
              </a:spcAft>
              <a:defRPr sz="2000" b="0">
                <a:solidFill>
                  <a:srgbClr val="F5F8FC"/>
                </a:solidFill>
                <a:latin typeface="Arial"/>
              </a:defRPr>
            </a:pPr>
            <a:r>
              <a:t>Outcomes still arriving</a:t>
            </a:r>
          </a:p>
        </p:txBody>
      </p:sp>
      <p:sp>
        <p:nvSpPr>
          <p:cNvPr id="10" name="Rounded Rectangle 9"/>
          <p:cNvSpPr/>
          <p:nvPr/>
        </p:nvSpPr>
        <p:spPr>
          <a:xfrm>
            <a:off x="8238744" y="1691640"/>
            <a:ext cx="3611880" cy="3200400"/>
          </a:xfrm>
          <a:prstGeom prst="roundRect">
            <a:avLst/>
          </a:prstGeom>
          <a:solidFill>
            <a:srgbClr val="1C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39912" y="1874520"/>
            <a:ext cx="3209544" cy="457200"/>
          </a:xfrm>
          <a:prstGeom prst="rect">
            <a:avLst/>
          </a:prstGeom>
          <a:noFill/>
        </p:spPr>
        <p:txBody>
          <a:bodyPr wrap="square">
            <a:spAutoFit/>
          </a:bodyPr>
          <a:lstStyle/>
          <a:p>
            <a:pPr>
              <a:spcAft>
                <a:spcPts val="1200"/>
              </a:spcAft>
              <a:defRPr sz="2200" b="1">
                <a:solidFill>
                  <a:srgbClr val="36D3BD"/>
                </a:solidFill>
                <a:latin typeface="Arial"/>
              </a:defRPr>
            </a:pPr>
            <a:r>
              <a:t>12 November onward</a:t>
            </a:r>
          </a:p>
        </p:txBody>
      </p:sp>
      <p:sp>
        <p:nvSpPr>
          <p:cNvPr id="12" name="TextBox 11"/>
          <p:cNvSpPr txBox="1"/>
          <p:nvPr/>
        </p:nvSpPr>
        <p:spPr>
          <a:xfrm>
            <a:off x="8439912" y="2468880"/>
            <a:ext cx="3209544" cy="2331720"/>
          </a:xfrm>
          <a:prstGeom prst="rect">
            <a:avLst/>
          </a:prstGeom>
          <a:noFill/>
        </p:spPr>
        <p:txBody>
          <a:bodyPr wrap="square">
            <a:spAutoFit/>
          </a:bodyPr>
          <a:lstStyle/>
          <a:p>
            <a:pPr>
              <a:spcAft>
                <a:spcPts val="1200"/>
              </a:spcAft>
              <a:defRPr sz="2000" b="0">
                <a:solidFill>
                  <a:srgbClr val="F5F8FC"/>
                </a:solidFill>
                <a:latin typeface="Arial"/>
              </a:defRPr>
            </a:pPr>
            <a:r>
              <a:t>Date-gated collection/scoring</a:t>
            </a:r>
          </a:p>
          <a:p>
            <a:pPr>
              <a:spcAft>
                <a:spcPts val="1200"/>
              </a:spcAft>
              <a:defRPr sz="2000" b="0">
                <a:solidFill>
                  <a:srgbClr val="F5F8FC"/>
                </a:solidFill>
                <a:latin typeface="Arial"/>
              </a:defRPr>
            </a:pPr>
            <a:r>
              <a:t>No prediction changes</a:t>
            </a:r>
          </a:p>
        </p:txBody>
      </p:sp>
      <p:sp>
        <p:nvSpPr>
          <p:cNvPr id="13" name="TextBox 12"/>
          <p:cNvSpPr txBox="1"/>
          <p:nvPr/>
        </p:nvSpPr>
        <p:spPr>
          <a:xfrm>
            <a:off x="640080" y="5394960"/>
            <a:ext cx="10881360" cy="731520"/>
          </a:xfrm>
          <a:prstGeom prst="rect">
            <a:avLst/>
          </a:prstGeom>
          <a:noFill/>
        </p:spPr>
        <p:txBody>
          <a:bodyPr wrap="square">
            <a:spAutoFit/>
          </a:bodyPr>
          <a:lstStyle/>
          <a:p>
            <a:pPr>
              <a:spcAft>
                <a:spcPts val="1200"/>
              </a:spcAft>
              <a:defRPr sz="2300" b="1">
                <a:solidFill>
                  <a:srgbClr val="FFCA69"/>
                </a:solidFill>
                <a:latin typeface="Arial"/>
              </a:defRPr>
            </a:pPr>
            <a:r>
              <a:t>The full target period is not complete at this presentation.</a:t>
            </a:r>
          </a:p>
        </p:txBody>
      </p:sp>
      <p:sp>
        <p:nvSpPr>
          <p:cNvPr id="14" name="TextBox 13"/>
          <p:cNvSpPr txBox="1"/>
          <p:nvPr/>
        </p:nvSpPr>
        <p:spPr>
          <a:xfrm>
            <a:off x="594360" y="6446520"/>
            <a:ext cx="10972800" cy="256032"/>
          </a:xfrm>
          <a:prstGeom prst="rect">
            <a:avLst/>
          </a:prstGeom>
          <a:noFill/>
        </p:spPr>
        <p:txBody>
          <a:bodyPr wrap="square">
            <a:spAutoFit/>
          </a:bodyPr>
          <a:lstStyle/>
          <a:p>
            <a:pPr>
              <a:spcAft>
                <a:spcPts val="1200"/>
              </a:spcAft>
              <a:defRPr sz="1100" b="0">
                <a:solidFill>
                  <a:srgbClr val="B3C4D8"/>
                </a:solidFill>
                <a:latin typeface="Arial"/>
              </a:defRPr>
            </a:pPr>
            <a:r>
              <a:t>Binay Verma  |  Research in progress  |  1 Nov 2026                          09/12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1A2B"/>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a:spAutoFit/>
          </a:bodyPr>
          <a:lstStyle/>
          <a:p>
            <a:pPr>
              <a:spcAft>
                <a:spcPts val="1200"/>
              </a:spcAft>
              <a:defRPr sz="3000" b="1">
                <a:solidFill>
                  <a:srgbClr val="F5F8FC"/>
                </a:solidFill>
                <a:latin typeface="Arial"/>
              </a:defRPr>
            </a:pPr>
            <a:r>
              <a:t>What the study supports today</a:t>
            </a:r>
          </a:p>
        </p:txBody>
      </p:sp>
      <p:sp>
        <p:nvSpPr>
          <p:cNvPr id="3" name="Rectangle 2"/>
          <p:cNvSpPr/>
          <p:nvPr/>
        </p:nvSpPr>
        <p:spPr>
          <a:xfrm>
            <a:off x="548640" y="1261872"/>
            <a:ext cx="914400" cy="50292"/>
          </a:xfrm>
          <a:prstGeom prst="rect">
            <a:avLst/>
          </a:prstGeom>
          <a:solidFill>
            <a:srgbClr val="36D3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0"/>
            <a:ext cx="10789920" cy="822960"/>
          </a:xfrm>
          <a:prstGeom prst="rect">
            <a:avLst/>
          </a:prstGeom>
          <a:noFill/>
        </p:spPr>
        <p:txBody>
          <a:bodyPr wrap="square">
            <a:spAutoFit/>
          </a:bodyPr>
          <a:lstStyle/>
          <a:p>
            <a:pPr>
              <a:spcAft>
                <a:spcPts val="1200"/>
              </a:spcAft>
              <a:defRPr sz="2300" b="0">
                <a:solidFill>
                  <a:srgbClr val="F5F8FC"/>
                </a:solidFill>
                <a:latin typeface="Arial"/>
              </a:defRPr>
            </a:pPr>
            <a:r>
              <a:t>•  A reproducible empirical comparison with meaningful controls and retained negative results.</a:t>
            </a:r>
          </a:p>
        </p:txBody>
      </p:sp>
      <p:sp>
        <p:nvSpPr>
          <p:cNvPr id="5" name="TextBox 4"/>
          <p:cNvSpPr txBox="1"/>
          <p:nvPr/>
        </p:nvSpPr>
        <p:spPr>
          <a:xfrm>
            <a:off x="640080" y="2587752"/>
            <a:ext cx="10789920" cy="822960"/>
          </a:xfrm>
          <a:prstGeom prst="rect">
            <a:avLst/>
          </a:prstGeom>
          <a:noFill/>
        </p:spPr>
        <p:txBody>
          <a:bodyPr wrap="square">
            <a:spAutoFit/>
          </a:bodyPr>
          <a:lstStyle/>
          <a:p>
            <a:pPr>
              <a:spcAft>
                <a:spcPts val="1200"/>
              </a:spcAft>
              <a:defRPr sz="2300" b="0">
                <a:solidFill>
                  <a:srgbClr val="F5F8FC"/>
                </a:solidFill>
                <a:latin typeface="Arial"/>
              </a:defRPr>
            </a:pPr>
            <a:r>
              <a:t>•  Model interfaces, adaptation policy and source vintages can change the interpretation.</a:t>
            </a:r>
          </a:p>
        </p:txBody>
      </p:sp>
      <p:sp>
        <p:nvSpPr>
          <p:cNvPr id="6" name="TextBox 5"/>
          <p:cNvSpPr txBox="1"/>
          <p:nvPr/>
        </p:nvSpPr>
        <p:spPr>
          <a:xfrm>
            <a:off x="640080" y="3529584"/>
            <a:ext cx="10789920" cy="822960"/>
          </a:xfrm>
          <a:prstGeom prst="rect">
            <a:avLst/>
          </a:prstGeom>
          <a:noFill/>
        </p:spPr>
        <p:txBody>
          <a:bodyPr wrap="square">
            <a:spAutoFit/>
          </a:bodyPr>
          <a:lstStyle/>
          <a:p>
            <a:pPr>
              <a:spcAft>
                <a:spcPts val="1200"/>
              </a:spcAft>
              <a:defRPr sz="2300" b="0">
                <a:solidFill>
                  <a:srgbClr val="F5F8FC"/>
                </a:solidFill>
                <a:latin typeface="Arial"/>
              </a:defRPr>
            </a:pPr>
            <a:r>
              <a:t>•  Pooling regions can help; withholding the target region generally hurts the tested regression models.</a:t>
            </a:r>
          </a:p>
        </p:txBody>
      </p:sp>
      <p:sp>
        <p:nvSpPr>
          <p:cNvPr id="7" name="TextBox 6"/>
          <p:cNvSpPr txBox="1"/>
          <p:nvPr/>
        </p:nvSpPr>
        <p:spPr>
          <a:xfrm>
            <a:off x="640080" y="5532120"/>
            <a:ext cx="10789920" cy="640080"/>
          </a:xfrm>
          <a:prstGeom prst="rect">
            <a:avLst/>
          </a:prstGeom>
          <a:noFill/>
        </p:spPr>
        <p:txBody>
          <a:bodyPr wrap="square">
            <a:spAutoFit/>
          </a:bodyPr>
          <a:lstStyle/>
          <a:p>
            <a:pPr>
              <a:spcAft>
                <a:spcPts val="1200"/>
              </a:spcAft>
              <a:defRPr sz="2000" b="0">
                <a:solidFill>
                  <a:srgbClr val="FFCA69"/>
                </a:solidFill>
                <a:latin typeface="Arial"/>
              </a:defRPr>
            </a:pPr>
            <a:r>
              <a:t>A bounded research study—not a claim of a new architecture or universal festival gain.</a:t>
            </a:r>
          </a:p>
        </p:txBody>
      </p:sp>
      <p:sp>
        <p:nvSpPr>
          <p:cNvPr id="8" name="TextBox 7"/>
          <p:cNvSpPr txBox="1"/>
          <p:nvPr/>
        </p:nvSpPr>
        <p:spPr>
          <a:xfrm>
            <a:off x="594360" y="6446520"/>
            <a:ext cx="10972800" cy="256032"/>
          </a:xfrm>
          <a:prstGeom prst="rect">
            <a:avLst/>
          </a:prstGeom>
          <a:noFill/>
        </p:spPr>
        <p:txBody>
          <a:bodyPr wrap="square">
            <a:spAutoFit/>
          </a:bodyPr>
          <a:lstStyle/>
          <a:p>
            <a:pPr>
              <a:spcAft>
                <a:spcPts val="1200"/>
              </a:spcAft>
              <a:defRPr sz="1100" b="0">
                <a:solidFill>
                  <a:srgbClr val="B3C4D8"/>
                </a:solidFill>
                <a:latin typeface="Arial"/>
              </a:defRPr>
            </a:pPr>
            <a:r>
              <a:t>Binay Verma  |  Research in progress  |  1 Nov 2026                          10/12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1A2B"/>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a:spAutoFit/>
          </a:bodyPr>
          <a:lstStyle/>
          <a:p>
            <a:pPr>
              <a:spcAft>
                <a:spcPts val="1200"/>
              </a:spcAft>
              <a:defRPr sz="3000" b="1">
                <a:solidFill>
                  <a:srgbClr val="F5F8FC"/>
                </a:solidFill>
                <a:latin typeface="Arial"/>
              </a:defRPr>
            </a:pPr>
            <a:r>
              <a:t>What happens next?</a:t>
            </a:r>
          </a:p>
        </p:txBody>
      </p:sp>
      <p:sp>
        <p:nvSpPr>
          <p:cNvPr id="3" name="Rectangle 2"/>
          <p:cNvSpPr/>
          <p:nvPr/>
        </p:nvSpPr>
        <p:spPr>
          <a:xfrm>
            <a:off x="548640" y="1261872"/>
            <a:ext cx="914400" cy="50292"/>
          </a:xfrm>
          <a:prstGeom prst="rect">
            <a:avLst/>
          </a:prstGeom>
          <a:solidFill>
            <a:srgbClr val="36D3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94360" y="1691640"/>
            <a:ext cx="3611880" cy="3337560"/>
          </a:xfrm>
          <a:prstGeom prst="roundRect">
            <a:avLst/>
          </a:prstGeom>
          <a:solidFill>
            <a:srgbClr val="1C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1874520"/>
            <a:ext cx="3209544" cy="457200"/>
          </a:xfrm>
          <a:prstGeom prst="rect">
            <a:avLst/>
          </a:prstGeom>
          <a:noFill/>
        </p:spPr>
        <p:txBody>
          <a:bodyPr wrap="square">
            <a:spAutoFit/>
          </a:bodyPr>
          <a:lstStyle/>
          <a:p>
            <a:pPr>
              <a:spcAft>
                <a:spcPts val="1200"/>
              </a:spcAft>
              <a:defRPr sz="2200" b="1">
                <a:solidFill>
                  <a:srgbClr val="36D3BD"/>
                </a:solidFill>
                <a:latin typeface="Arial"/>
              </a:defRPr>
            </a:pPr>
            <a:r>
              <a:t>New outcomes</a:t>
            </a:r>
          </a:p>
        </p:txBody>
      </p:sp>
      <p:sp>
        <p:nvSpPr>
          <p:cNvPr id="6" name="TextBox 5"/>
          <p:cNvSpPr txBox="1"/>
          <p:nvPr/>
        </p:nvSpPr>
        <p:spPr>
          <a:xfrm>
            <a:off x="795528" y="2468880"/>
            <a:ext cx="3209544" cy="2468880"/>
          </a:xfrm>
          <a:prstGeom prst="rect">
            <a:avLst/>
          </a:prstGeom>
          <a:noFill/>
        </p:spPr>
        <p:txBody>
          <a:bodyPr wrap="square">
            <a:spAutoFit/>
          </a:bodyPr>
          <a:lstStyle/>
          <a:p>
            <a:pPr>
              <a:spcAft>
                <a:spcPts val="1200"/>
              </a:spcAft>
              <a:defRPr sz="2000" b="0">
                <a:solidFill>
                  <a:srgbClr val="F5F8FC"/>
                </a:solidFill>
                <a:latin typeface="Arial"/>
              </a:defRPr>
            </a:pPr>
            <a:r>
              <a:t>Score the immutable forecasts after 11 November, without retuning.</a:t>
            </a:r>
          </a:p>
        </p:txBody>
      </p:sp>
      <p:sp>
        <p:nvSpPr>
          <p:cNvPr id="7" name="Rounded Rectangle 6"/>
          <p:cNvSpPr/>
          <p:nvPr/>
        </p:nvSpPr>
        <p:spPr>
          <a:xfrm>
            <a:off x="4416552" y="1691640"/>
            <a:ext cx="3611880" cy="3337560"/>
          </a:xfrm>
          <a:prstGeom prst="roundRect">
            <a:avLst/>
          </a:prstGeom>
          <a:solidFill>
            <a:srgbClr val="1C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874520"/>
            <a:ext cx="3209544" cy="457200"/>
          </a:xfrm>
          <a:prstGeom prst="rect">
            <a:avLst/>
          </a:prstGeom>
          <a:noFill/>
        </p:spPr>
        <p:txBody>
          <a:bodyPr wrap="square">
            <a:spAutoFit/>
          </a:bodyPr>
          <a:lstStyle/>
          <a:p>
            <a:pPr>
              <a:spcAft>
                <a:spcPts val="1200"/>
              </a:spcAft>
              <a:defRPr sz="2200" b="1">
                <a:solidFill>
                  <a:srgbClr val="36D3BD"/>
                </a:solidFill>
                <a:latin typeface="Arial"/>
              </a:defRPr>
            </a:pPr>
            <a:r>
              <a:t>Human and source review</a:t>
            </a:r>
          </a:p>
        </p:txBody>
      </p:sp>
      <p:sp>
        <p:nvSpPr>
          <p:cNvPr id="9" name="TextBox 8"/>
          <p:cNvSpPr txBox="1"/>
          <p:nvPr/>
        </p:nvSpPr>
        <p:spPr>
          <a:xfrm>
            <a:off x="4617720" y="2468880"/>
            <a:ext cx="3209544" cy="2468880"/>
          </a:xfrm>
          <a:prstGeom prst="rect">
            <a:avLst/>
          </a:prstGeom>
          <a:noFill/>
        </p:spPr>
        <p:txBody>
          <a:bodyPr wrap="square">
            <a:spAutoFit/>
          </a:bodyPr>
          <a:lstStyle/>
          <a:p>
            <a:pPr>
              <a:spcAft>
                <a:spcPts val="1200"/>
              </a:spcAft>
              <a:defRPr sz="2000" b="0">
                <a:solidFill>
                  <a:srgbClr val="F5F8FC"/>
                </a:solidFill>
                <a:latin typeface="Arial"/>
              </a:defRPr>
            </a:pPr>
            <a:r>
              <a:t>Permission email sent by the presenter; response pending. Independent reviewer still needed.</a:t>
            </a:r>
          </a:p>
        </p:txBody>
      </p:sp>
      <p:sp>
        <p:nvSpPr>
          <p:cNvPr id="10" name="Rounded Rectangle 9"/>
          <p:cNvSpPr/>
          <p:nvPr/>
        </p:nvSpPr>
        <p:spPr>
          <a:xfrm>
            <a:off x="8238744" y="1691640"/>
            <a:ext cx="3611880" cy="3337560"/>
          </a:xfrm>
          <a:prstGeom prst="roundRect">
            <a:avLst/>
          </a:prstGeom>
          <a:solidFill>
            <a:srgbClr val="1C2B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39912" y="1874520"/>
            <a:ext cx="3209544" cy="457200"/>
          </a:xfrm>
          <a:prstGeom prst="rect">
            <a:avLst/>
          </a:prstGeom>
          <a:noFill/>
        </p:spPr>
        <p:txBody>
          <a:bodyPr wrap="square">
            <a:spAutoFit/>
          </a:bodyPr>
          <a:lstStyle/>
          <a:p>
            <a:pPr>
              <a:spcAft>
                <a:spcPts val="1200"/>
              </a:spcAft>
              <a:defRPr sz="2200" b="1">
                <a:solidFill>
                  <a:srgbClr val="36D3BD"/>
                </a:solidFill>
                <a:latin typeface="Arial"/>
              </a:defRPr>
            </a:pPr>
            <a:r>
              <a:t>Submission decision</a:t>
            </a:r>
          </a:p>
        </p:txBody>
      </p:sp>
      <p:sp>
        <p:nvSpPr>
          <p:cNvPr id="12" name="TextBox 11"/>
          <p:cNvSpPr txBox="1"/>
          <p:nvPr/>
        </p:nvSpPr>
        <p:spPr>
          <a:xfrm>
            <a:off x="8439912" y="2468880"/>
            <a:ext cx="3209544" cy="2468880"/>
          </a:xfrm>
          <a:prstGeom prst="rect">
            <a:avLst/>
          </a:prstGeom>
          <a:noFill/>
        </p:spPr>
        <p:txBody>
          <a:bodyPr wrap="square">
            <a:spAutoFit/>
          </a:bodyPr>
          <a:lstStyle/>
          <a:p>
            <a:pPr>
              <a:spcAft>
                <a:spcPts val="1200"/>
              </a:spcAft>
              <a:defRPr sz="2000" b="0">
                <a:solidFill>
                  <a:srgbClr val="F5F8FC"/>
                </a:solidFill>
                <a:latin typeface="Arial"/>
              </a:defRPr>
            </a:pPr>
            <a:r>
              <a:t>Review the evidence and limitations before deciding whether a journal submission is justified.</a:t>
            </a:r>
          </a:p>
        </p:txBody>
      </p:sp>
      <p:sp>
        <p:nvSpPr>
          <p:cNvPr id="13" name="TextBox 12"/>
          <p:cNvSpPr txBox="1"/>
          <p:nvPr/>
        </p:nvSpPr>
        <p:spPr>
          <a:xfrm>
            <a:off x="594360" y="6446520"/>
            <a:ext cx="10972800" cy="256032"/>
          </a:xfrm>
          <a:prstGeom prst="rect">
            <a:avLst/>
          </a:prstGeom>
          <a:noFill/>
        </p:spPr>
        <p:txBody>
          <a:bodyPr wrap="square">
            <a:spAutoFit/>
          </a:bodyPr>
          <a:lstStyle/>
          <a:p>
            <a:pPr>
              <a:spcAft>
                <a:spcPts val="1200"/>
              </a:spcAft>
              <a:defRPr sz="1100" b="0">
                <a:solidFill>
                  <a:srgbClr val="B3C4D8"/>
                </a:solidFill>
                <a:latin typeface="Arial"/>
              </a:defRPr>
            </a:pPr>
            <a:r>
              <a:t>Binay Verma  |  Research in progress  |  1 Nov 2026                          11/12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1A2B"/>
        </a:solidFill>
        <a:effectLst/>
      </p:bgPr>
    </p:bg>
    <p:spTree>
      <p:nvGrpSpPr>
        <p:cNvPr id="1" name=""/>
        <p:cNvGrpSpPr/>
        <p:nvPr/>
      </p:nvGrpSpPr>
      <p:grpSpPr/>
      <p:sp>
        <p:nvSpPr>
          <p:cNvPr id="2" name="TextBox 1"/>
          <p:cNvSpPr txBox="1"/>
          <p:nvPr/>
        </p:nvSpPr>
        <p:spPr>
          <a:xfrm>
            <a:off x="548640" y="365760"/>
            <a:ext cx="11064240" cy="731520"/>
          </a:xfrm>
          <a:prstGeom prst="rect">
            <a:avLst/>
          </a:prstGeom>
          <a:noFill/>
        </p:spPr>
        <p:txBody>
          <a:bodyPr wrap="square">
            <a:spAutoFit/>
          </a:bodyPr>
          <a:lstStyle/>
          <a:p>
            <a:pPr>
              <a:spcAft>
                <a:spcPts val="1200"/>
              </a:spcAft>
              <a:defRPr sz="3000" b="1">
                <a:solidFill>
                  <a:srgbClr val="F5F8FC"/>
                </a:solidFill>
                <a:latin typeface="Arial"/>
              </a:defRPr>
            </a:pPr>
            <a:r>
              <a:t>Sources and questions</a:t>
            </a:r>
          </a:p>
        </p:txBody>
      </p:sp>
      <p:sp>
        <p:nvSpPr>
          <p:cNvPr id="3" name="Rectangle 2"/>
          <p:cNvSpPr/>
          <p:nvPr/>
        </p:nvSpPr>
        <p:spPr>
          <a:xfrm>
            <a:off x="548640" y="1261872"/>
            <a:ext cx="914400" cy="50292"/>
          </a:xfrm>
          <a:prstGeom prst="rect">
            <a:avLst/>
          </a:prstGeom>
          <a:solidFill>
            <a:srgbClr val="36D3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0"/>
            <a:ext cx="10789920" cy="822960"/>
          </a:xfrm>
          <a:prstGeom prst="rect">
            <a:avLst/>
          </a:prstGeom>
          <a:noFill/>
        </p:spPr>
        <p:txBody>
          <a:bodyPr wrap="square">
            <a:spAutoFit/>
          </a:bodyPr>
          <a:lstStyle/>
          <a:p>
            <a:pPr>
              <a:spcAft>
                <a:spcPts val="1200"/>
              </a:spcAft>
              <a:defRPr sz="2300" b="0">
                <a:solidFill>
                  <a:srgbClr val="F5F8FC"/>
                </a:solidFill>
                <a:latin typeface="Arial"/>
              </a:defRPr>
            </a:pPr>
            <a:r>
              <a:t>•  Robbie Andrew: Indian Energy and Emissions Data; upstream GRID-INDIA/POSOCO.</a:t>
            </a:r>
          </a:p>
        </p:txBody>
      </p:sp>
      <p:sp>
        <p:nvSpPr>
          <p:cNvPr id="5" name="TextBox 4"/>
          <p:cNvSpPr txBox="1"/>
          <p:nvPr/>
        </p:nvSpPr>
        <p:spPr>
          <a:xfrm>
            <a:off x="640080" y="2587752"/>
            <a:ext cx="10789920" cy="822960"/>
          </a:xfrm>
          <a:prstGeom prst="rect">
            <a:avLst/>
          </a:prstGeom>
          <a:noFill/>
        </p:spPr>
        <p:txBody>
          <a:bodyPr wrap="square">
            <a:spAutoFit/>
          </a:bodyPr>
          <a:lstStyle/>
          <a:p>
            <a:pPr>
              <a:spcAft>
                <a:spcPts val="1200"/>
              </a:spcAft>
              <a:defRPr sz="2300" b="0">
                <a:solidFill>
                  <a:srgbClr val="F5F8FC"/>
                </a:solidFill>
                <a:latin typeface="Arial"/>
              </a:defRPr>
            </a:pPr>
            <a:r>
              <a:t>•  Hunt &amp; Bloomfield: original corrected state dataset, Zenodo 14983362 (CC BY 4.0).</a:t>
            </a:r>
          </a:p>
        </p:txBody>
      </p:sp>
      <p:sp>
        <p:nvSpPr>
          <p:cNvPr id="6" name="TextBox 5"/>
          <p:cNvSpPr txBox="1"/>
          <p:nvPr/>
        </p:nvSpPr>
        <p:spPr>
          <a:xfrm>
            <a:off x="640080" y="3529584"/>
            <a:ext cx="10789920" cy="822960"/>
          </a:xfrm>
          <a:prstGeom prst="rect">
            <a:avLst/>
          </a:prstGeom>
          <a:noFill/>
        </p:spPr>
        <p:txBody>
          <a:bodyPr wrap="square">
            <a:spAutoFit/>
          </a:bodyPr>
          <a:lstStyle/>
          <a:p>
            <a:pPr>
              <a:spcAft>
                <a:spcPts val="1200"/>
              </a:spcAft>
              <a:defRPr sz="2300" b="0">
                <a:solidFill>
                  <a:srgbClr val="F5F8FC"/>
                </a:solidFill>
                <a:latin typeface="Arial"/>
              </a:defRPr>
            </a:pPr>
            <a:r>
              <a:t>•  Chronos-2: arXiv 2510.15821; TimesFM: Google Research official repository/model.</a:t>
            </a:r>
          </a:p>
        </p:txBody>
      </p:sp>
      <p:sp>
        <p:nvSpPr>
          <p:cNvPr id="7" name="TextBox 6"/>
          <p:cNvSpPr txBox="1"/>
          <p:nvPr/>
        </p:nvSpPr>
        <p:spPr>
          <a:xfrm>
            <a:off x="640080" y="4471416"/>
            <a:ext cx="10789920" cy="822960"/>
          </a:xfrm>
          <a:prstGeom prst="rect">
            <a:avLst/>
          </a:prstGeom>
          <a:noFill/>
        </p:spPr>
        <p:txBody>
          <a:bodyPr wrap="square">
            <a:spAutoFit/>
          </a:bodyPr>
          <a:lstStyle/>
          <a:p>
            <a:pPr>
              <a:spcAft>
                <a:spcPts val="1200"/>
              </a:spcAft>
              <a:defRPr sz="2300" b="0">
                <a:solidFill>
                  <a:srgbClr val="F5F8FC"/>
                </a:solidFill>
                <a:latin typeface="Arial"/>
              </a:defRPr>
            </a:pPr>
            <a:r>
              <a:t>•  Kreusel et al.: calendar encoding study, arXiv 2610.13676.</a:t>
            </a:r>
          </a:p>
        </p:txBody>
      </p:sp>
      <p:sp>
        <p:nvSpPr>
          <p:cNvPr id="8" name="TextBox 7"/>
          <p:cNvSpPr txBox="1"/>
          <p:nvPr/>
        </p:nvSpPr>
        <p:spPr>
          <a:xfrm>
            <a:off x="640080" y="5532120"/>
            <a:ext cx="10789920" cy="640080"/>
          </a:xfrm>
          <a:prstGeom prst="rect">
            <a:avLst/>
          </a:prstGeom>
          <a:noFill/>
        </p:spPr>
        <p:txBody>
          <a:bodyPr wrap="square">
            <a:spAutoFit/>
          </a:bodyPr>
          <a:lstStyle/>
          <a:p>
            <a:pPr>
              <a:spcAft>
                <a:spcPts val="1200"/>
              </a:spcAft>
              <a:defRPr sz="2000" b="0">
                <a:solidFill>
                  <a:srgbClr val="FFCA69"/>
                </a:solidFill>
                <a:latin typeface="Arial"/>
              </a:defRPr>
            </a:pPr>
            <a:r>
              <a:t>All displayed charts are generated from this project’s recorded aggregate analyses.</a:t>
            </a:r>
          </a:p>
        </p:txBody>
      </p:sp>
      <p:sp>
        <p:nvSpPr>
          <p:cNvPr id="9" name="TextBox 8"/>
          <p:cNvSpPr txBox="1"/>
          <p:nvPr/>
        </p:nvSpPr>
        <p:spPr>
          <a:xfrm>
            <a:off x="594360" y="6446520"/>
            <a:ext cx="10972800" cy="256032"/>
          </a:xfrm>
          <a:prstGeom prst="rect">
            <a:avLst/>
          </a:prstGeom>
          <a:noFill/>
        </p:spPr>
        <p:txBody>
          <a:bodyPr wrap="square">
            <a:spAutoFit/>
          </a:bodyPr>
          <a:lstStyle/>
          <a:p>
            <a:pPr>
              <a:spcAft>
                <a:spcPts val="1200"/>
              </a:spcAft>
              <a:defRPr sz="1100" b="0">
                <a:solidFill>
                  <a:srgbClr val="B3C4D8"/>
                </a:solidFill>
                <a:latin typeface="Arial"/>
              </a:defRPr>
            </a:pPr>
            <a:r>
              <a:t>Binay Verma  |  Research in progress  |  1 Nov 2026                          12/12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Regional Calendars and Electricity Forecasting</dc:title>
  <dc:subject>Internal college research presentation, 1 November 2026</dc:subject>
  <dc:creator>Binay Verma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