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supplement extends the earlier Diwali study. It evaluates forecast errors around five documented festival groups. It does not establish a new architecture, causal effect or benefit from adding new festival identities.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are24festival/state/year groups, not528independent replications. Diwali preserves the earlier broad union; other groups use fixed plus/minus3day anchor windows. Fifteen configurations have different adaptation and feature budgets, so this is a deployment-policy comparison. SARIMAX and ETS use fixed specifications; learned Ridge/tree settings retain their original pre-year selection. Date evidence is annual-as-issued.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MASE is better; these are not percentages. Each festival uses equal states within year and equal years. Different families have different documented state coverage. Every configuration is shown, including poor results. Colors use the same scale across leads. A lead is an individual future day, not an average over that many days. Do not infer statistical superiority from the lowest cell.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MASE is better; these are not percentages. Each festival uses equal states within year and equal years. Different families have different documented state coverage. Every configuration is shown, including poor results. Colors use the same scale across leads. A lead is an individual future day, not an average over that many days. Do not infer statistical superiority from the lowest cell.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MASE is better; these are not percentages. Each festival uses equal states within year and equal years. Different families have different documented state coverage. Every configuration is shown, including poor results. Colors use the same scale across leads. A lead is an individual future day, not an average over that many days. Do not infer statistical superiority from the lowest cell.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illustrations were selected by dates and states before plotting, not because they are the most favorable errors: Delhi Holi2024 and Maharashtra Ganesh2025. Each point is a separately issued next-day prediction using earlier observations; it is not a single seven-day forecast path. The five plotted configurations are fixed for readability; all fifteen are retained in the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exploratory diagnostic result. We have extended case coverage, not proved the incremental value of adding every festival feature. Calendar arms here contain weekdays and annual Fourier harmonics. Foundation-model historical/proxy overlap remains unresolved; matching cases controls a specific comparison, not every source of bias.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Dussehra2025 coincides with Gandhi Jayanti and Spring2025 is adjacent to Eid. Annual office schedules do not establish actual statewide shutdown or all later amendments. Cite Robbie Andrew/GRID-INDIA/POSOCO, the earlier Hunt/Bloomfield source, model developers and close calendar-encoding prior work. Sources and full scores are in multifestival_models_v1 and MULTIFESTIVAL_REPRODUCTION.md. The original college deck and frozen predictions remain unchanged. This supplement is local pending sharing clarification.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Do rankings hold beyond Diwali?</a:t>
            </a:r>
          </a:p>
        </p:txBody>
      </p:sp>
      <p:sp>
        <p:nvSpPr>
          <p:cNvPr id="3" name="TextBox 2"/>
          <p:cNvSpPr txBox="1"/>
          <p:nvPr/>
        </p:nvSpPr>
        <p:spPr>
          <a:xfrm>
            <a:off x="640080" y="1691640"/>
            <a:ext cx="10881360" cy="4297680"/>
          </a:xfrm>
          <a:prstGeom prst="rect">
            <a:avLst/>
          </a:prstGeom>
          <a:noFill/>
        </p:spPr>
        <p:txBody>
          <a:bodyPr wrap="square">
            <a:spAutoFit/>
          </a:bodyPr>
          <a:lstStyle/>
          <a:p>
            <a:pPr>
              <a:spcAft>
                <a:spcPts val="1200"/>
              </a:spcAft>
              <a:defRPr sz="2500" b="0">
                <a:solidFill>
                  <a:srgbClr val="F5F8FC"/>
                </a:solidFill>
                <a:latin typeface="Arial"/>
              </a:defRPr>
            </a:pPr>
            <a:r>
              <a:t>Binay Verma · Results supplement · 1 November 2026</a:t>
            </a:r>
          </a:p>
          <a:p>
            <a:pPr>
              <a:spcAft>
                <a:spcPts val="1200"/>
              </a:spcAft>
              <a:defRPr sz="2500" b="0">
                <a:solidFill>
                  <a:srgbClr val="F5F8FC"/>
                </a:solidFill>
                <a:latin typeface="Arial"/>
              </a:defRPr>
            </a:pPr>
            <a:r>
              <a:t>Five festival groups · 2024–2025 · Research in progress</a:t>
            </a:r>
          </a:p>
        </p:txBody>
      </p:sp>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Expanded comparison, fixed evaluation cases</a:t>
            </a:r>
          </a:p>
        </p:txBody>
      </p:sp>
      <p:sp>
        <p:nvSpPr>
          <p:cNvPr id="3" name="TextBox 2"/>
          <p:cNvSpPr txBox="1"/>
          <p:nvPr/>
        </p:nvSpPr>
        <p:spPr>
          <a:xfrm>
            <a:off x="640080" y="1691640"/>
            <a:ext cx="10881360" cy="4297680"/>
          </a:xfrm>
          <a:prstGeom prst="rect">
            <a:avLst/>
          </a:prstGeom>
          <a:noFill/>
        </p:spPr>
        <p:txBody>
          <a:bodyPr wrap="square">
            <a:spAutoFit/>
          </a:bodyPr>
          <a:lstStyle/>
          <a:p>
            <a:pPr>
              <a:spcAft>
                <a:spcPts val="1200"/>
              </a:spcAft>
              <a:defRPr sz="2500" b="0">
                <a:solidFill>
                  <a:srgbClr val="F5F8FC"/>
                </a:solidFill>
                <a:latin typeface="Arial"/>
              </a:defRPr>
            </a:pPr>
            <a:r>
              <a:t>528 identical cases per configuration; 15 configurations.</a:t>
            </a:r>
          </a:p>
          <a:p>
            <a:pPr>
              <a:spcAft>
                <a:spcPts val="1200"/>
              </a:spcAft>
              <a:defRPr sz="2500" b="0">
                <a:solidFill>
                  <a:srgbClr val="F5F8FC"/>
                </a:solidFill>
                <a:latin typeface="Arial"/>
              </a:defRPr>
            </a:pPr>
            <a:r>
              <a:t>Holi: Delhi/Maharashtra. Ganesh and Ugadi/Gudi: Karnataka/Maharashtra.</a:t>
            </a:r>
          </a:p>
          <a:p>
            <a:pPr>
              <a:spcAft>
                <a:spcPts val="1200"/>
              </a:spcAft>
              <a:defRPr sz="2500" b="0">
                <a:solidFill>
                  <a:srgbClr val="F5F8FC"/>
                </a:solidFill>
                <a:latin typeface="Arial"/>
              </a:defRPr>
            </a:pPr>
            <a:r>
              <a:t>Dussehra and Diwali: all three states. Fixed windows and recorded labels.</a:t>
            </a:r>
          </a:p>
          <a:p>
            <a:pPr>
              <a:spcAft>
                <a:spcPts val="1200"/>
              </a:spcAft>
              <a:defRPr sz="2500" b="0">
                <a:solidFill>
                  <a:srgbClr val="F5F8FC"/>
                </a:solidFill>
                <a:latin typeface="Arial"/>
              </a:defRPr>
            </a:pPr>
            <a:r>
              <a:t>Naive, Ridge, LightGBM, SARIMAX, ETS, Chronos and TimesFM families.</a:t>
            </a:r>
          </a:p>
        </p:txBody>
      </p:sp>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Lead 1: all configurations</a:t>
            </a:r>
          </a:p>
        </p:txBody>
      </p:sp>
      <p:pic>
        <p:nvPicPr>
          <p:cNvPr id="3" name="Picture 2" descr="lead_1_all_configurations.png"/>
          <p:cNvPicPr>
            <a:picLocks noChangeAspect="1"/>
          </p:cNvPicPr>
          <p:nvPr/>
        </p:nvPicPr>
        <p:blipFill>
          <a:blip r:embed="rId2"/>
          <a:stretch>
            <a:fillRect/>
          </a:stretch>
        </p:blipFill>
        <p:spPr>
          <a:xfrm>
            <a:off x="411480" y="1078992"/>
            <a:ext cx="11338560" cy="5166360"/>
          </a:xfrm>
          <a:prstGeom prst="rect">
            <a:avLst/>
          </a:prstGeom>
        </p:spPr>
      </p:pic>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Lead 7: all configurations</a:t>
            </a:r>
          </a:p>
        </p:txBody>
      </p:sp>
      <p:pic>
        <p:nvPicPr>
          <p:cNvPr id="3" name="Picture 2" descr="lead_7_all_configurations.png"/>
          <p:cNvPicPr>
            <a:picLocks noChangeAspect="1"/>
          </p:cNvPicPr>
          <p:nvPr/>
        </p:nvPicPr>
        <p:blipFill>
          <a:blip r:embed="rId2"/>
          <a:stretch>
            <a:fillRect/>
          </a:stretch>
        </p:blipFill>
        <p:spPr>
          <a:xfrm>
            <a:off x="411480" y="1078992"/>
            <a:ext cx="11338560" cy="5166360"/>
          </a:xfrm>
          <a:prstGeom prst="rect">
            <a:avLst/>
          </a:prstGeom>
        </p:spPr>
      </p:pic>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Lead 14: all configurations</a:t>
            </a:r>
          </a:p>
        </p:txBody>
      </p:sp>
      <p:pic>
        <p:nvPicPr>
          <p:cNvPr id="3" name="Picture 2" descr="lead_14_all_configurations.png"/>
          <p:cNvPicPr>
            <a:picLocks noChangeAspect="1"/>
          </p:cNvPicPr>
          <p:nvPr/>
        </p:nvPicPr>
        <p:blipFill>
          <a:blip r:embed="rId2"/>
          <a:stretch>
            <a:fillRect/>
          </a:stretch>
        </p:blipFill>
        <p:spPr>
          <a:xfrm>
            <a:off x="411480" y="1078992"/>
            <a:ext cx="11338560" cy="5166360"/>
          </a:xfrm>
          <a:prstGeom prst="rect">
            <a:avLst/>
          </a:prstGeom>
        </p:spPr>
      </p:pic>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Inspect forecasts, not just rankings</a:t>
            </a:r>
          </a:p>
        </p:txBody>
      </p:sp>
      <p:pic>
        <p:nvPicPr>
          <p:cNvPr id="3" name="Picture 2" descr="rolling_next_day_examples.png"/>
          <p:cNvPicPr>
            <a:picLocks noChangeAspect="1"/>
          </p:cNvPicPr>
          <p:nvPr/>
        </p:nvPicPr>
        <p:blipFill>
          <a:blip r:embed="rId2"/>
          <a:stretch>
            <a:fillRect/>
          </a:stretch>
        </p:blipFill>
        <p:spPr>
          <a:xfrm>
            <a:off x="411480" y="1078992"/>
            <a:ext cx="11338560" cy="4480560"/>
          </a:xfrm>
          <a:prstGeom prst="rect">
            <a:avLst/>
          </a:prstGeom>
        </p:spPr>
      </p:pic>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What the extension supports</a:t>
            </a:r>
          </a:p>
        </p:txBody>
      </p:sp>
      <p:sp>
        <p:nvSpPr>
          <p:cNvPr id="3" name="TextBox 2"/>
          <p:cNvSpPr txBox="1"/>
          <p:nvPr/>
        </p:nvSpPr>
        <p:spPr>
          <a:xfrm>
            <a:off x="640080" y="1691640"/>
            <a:ext cx="10881360" cy="4297680"/>
          </a:xfrm>
          <a:prstGeom prst="rect">
            <a:avLst/>
          </a:prstGeom>
          <a:noFill/>
        </p:spPr>
        <p:txBody>
          <a:bodyPr wrap="square">
            <a:spAutoFit/>
          </a:bodyPr>
          <a:lstStyle/>
          <a:p>
            <a:pPr>
              <a:spcAft>
                <a:spcPts val="1200"/>
              </a:spcAft>
              <a:defRPr sz="2500" b="0">
                <a:solidFill>
                  <a:srgbClr val="F5F8FC"/>
                </a:solidFill>
                <a:latin typeface="Arial"/>
              </a:defRPr>
            </a:pPr>
            <a:r>
              <a:t>Model rankings depend on festival, state, year and horizon.</a:t>
            </a:r>
          </a:p>
          <a:p>
            <a:pPr>
              <a:spcAft>
                <a:spcPts val="1200"/>
              </a:spcAft>
              <a:defRPr sz="2500" b="0">
                <a:solidFill>
                  <a:srgbClr val="F5F8FC"/>
                </a:solidFill>
                <a:latin typeface="Arial"/>
              </a:defRPr>
            </a:pPr>
            <a:r>
              <a:t>Classical models and simple baselines remain relevant comparators.</a:t>
            </a:r>
          </a:p>
          <a:p>
            <a:pPr>
              <a:spcAft>
                <a:spcPts val="1200"/>
              </a:spcAft>
              <a:defRPr sz="2500" b="0">
                <a:solidFill>
                  <a:srgbClr val="F5F8FC"/>
                </a:solidFill>
                <a:latin typeface="Arial"/>
              </a:defRPr>
            </a:pPr>
            <a:r>
              <a:t>Ordinary-calendar inputs do not encode every festival identity.</a:t>
            </a:r>
          </a:p>
          <a:p>
            <a:pPr>
              <a:spcAft>
                <a:spcPts val="1200"/>
              </a:spcAft>
              <a:defRPr sz="2500" b="0">
                <a:solidFill>
                  <a:srgbClr val="F5F8FC"/>
                </a:solidFill>
                <a:latin typeface="Arial"/>
              </a:defRPr>
            </a:pPr>
            <a:r>
              <a:t>Low historical error does not establish a universal winner.</a:t>
            </a:r>
          </a:p>
        </p:txBody>
      </p:sp>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02920" y="320040"/>
            <a:ext cx="11155680" cy="731520"/>
          </a:xfrm>
          <a:prstGeom prst="rect">
            <a:avLst/>
          </a:prstGeom>
          <a:noFill/>
        </p:spPr>
        <p:txBody>
          <a:bodyPr wrap="square">
            <a:spAutoFit/>
          </a:bodyPr>
          <a:lstStyle/>
          <a:p>
            <a:pPr>
              <a:spcAft>
                <a:spcPts val="1200"/>
              </a:spcAft>
              <a:defRPr sz="3000" b="1">
                <a:solidFill>
                  <a:srgbClr val="F5F8FC"/>
                </a:solidFill>
                <a:latin typeface="Arial"/>
              </a:defRPr>
            </a:pPr>
            <a:r>
              <a:t>Next experiment and remaining limits</a:t>
            </a:r>
          </a:p>
        </p:txBody>
      </p:sp>
      <p:sp>
        <p:nvSpPr>
          <p:cNvPr id="3" name="TextBox 2"/>
          <p:cNvSpPr txBox="1"/>
          <p:nvPr/>
        </p:nvSpPr>
        <p:spPr>
          <a:xfrm>
            <a:off x="640080" y="1691640"/>
            <a:ext cx="10881360" cy="4297680"/>
          </a:xfrm>
          <a:prstGeom prst="rect">
            <a:avLst/>
          </a:prstGeom>
          <a:noFill/>
        </p:spPr>
        <p:txBody>
          <a:bodyPr wrap="square">
            <a:spAutoFit/>
          </a:bodyPr>
          <a:lstStyle/>
          <a:p>
            <a:pPr>
              <a:spcAft>
                <a:spcPts val="1200"/>
              </a:spcAft>
              <a:defRPr sz="2500" b="0">
                <a:solidFill>
                  <a:srgbClr val="F5F8FC"/>
                </a:solidFill>
                <a:latin typeface="Arial"/>
              </a:defRPr>
            </a:pPr>
            <a:r>
              <a:t>Next: test added festival features using a separate training-date ledger.</a:t>
            </a:r>
          </a:p>
          <a:p>
            <a:pPr>
              <a:spcAft>
                <a:spcPts val="1200"/>
              </a:spcAft>
              <a:defRPr sz="2500" b="0">
                <a:solidFill>
                  <a:srgbClr val="F5F8FC"/>
                </a:solidFill>
                <a:latin typeface="Arial"/>
              </a:defRPr>
            </a:pPr>
            <a:r>
              <a:t>Two historical years, correlated states and overlapping holidays limit inference.</a:t>
            </a:r>
          </a:p>
          <a:p>
            <a:pPr>
              <a:spcAft>
                <a:spcPts val="1200"/>
              </a:spcAft>
              <a:defRPr sz="2500" b="0">
                <a:solidFill>
                  <a:srgbClr val="F5F8FC"/>
                </a:solidFill>
                <a:latin typeface="Arial"/>
              </a:defRPr>
            </a:pPr>
            <a:r>
              <a:t>Source permission, amendment review and independent human review remain pending.</a:t>
            </a:r>
          </a:p>
          <a:p>
            <a:pPr>
              <a:spcAft>
                <a:spcPts val="1200"/>
              </a:spcAft>
              <a:defRPr sz="2500" b="0">
                <a:solidFill>
                  <a:srgbClr val="F5F8FC"/>
                </a:solidFill>
                <a:latin typeface="Arial"/>
              </a:defRPr>
            </a:pPr>
            <a:r>
              <a:t>Frozen future outcomes: score only after 11 November; no accuracy claim yet.</a:t>
            </a:r>
          </a:p>
        </p:txBody>
      </p:sp>
      <p:sp>
        <p:nvSpPr>
          <p:cNvPr id="4" name="TextBox 3"/>
          <p:cNvSpPr txBox="1"/>
          <p:nvPr/>
        </p:nvSpPr>
        <p:spPr>
          <a:xfrm>
            <a:off x="594360" y="6446520"/>
            <a:ext cx="10972800" cy="274320"/>
          </a:xfrm>
          <a:prstGeom prst="rect">
            <a:avLst/>
          </a:prstGeom>
          <a:noFill/>
        </p:spPr>
        <p:txBody>
          <a:bodyPr wrap="square">
            <a:spAutoFit/>
          </a:bodyPr>
          <a:lstStyle/>
          <a:p>
            <a:pPr>
              <a:spcAft>
                <a:spcPts val="1200"/>
              </a:spcAft>
              <a:defRPr sz="1100" b="0">
                <a:solidFill>
                  <a:srgbClr val="B3C4D8"/>
                </a:solidFill>
                <a:latin typeface="Arial"/>
              </a:defRPr>
            </a:pPr>
            <a:r>
              <a:t>Binay Verma | Exploratory historical results | 1 Nov 2026                 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Multi-festival forecasting: matched historical results</dc:title>
  <dc:subject/>
  <dc:creator>Binay Verma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